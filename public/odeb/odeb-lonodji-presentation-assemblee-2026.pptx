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OMBR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B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workspace/scratch/45770fcbf08b/lonodji/public/odeb/identite/odeb-lonodji-embleme-superposable-512.png">    </p:cNvPr>
          <p:cNvPicPr>
            <a:picLocks noChangeAspect="1"/>
          </p:cNvPicPr>
          <p:nvPr/>
        </p:nvPicPr>
        <p:blipFill>
          <a:blip r:embed="rId1"/>
          <a:stretch>
            <a:fillRect/>
          </a:stretch>
        </p:blipFill>
        <p:spPr>
          <a:xfrm>
            <a:off x="10088575" y="4480560"/>
            <a:ext cx="1554480" cy="1554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AIR">
    <p:bg>
      <p:bgPr>
        <a:solidFill>
          <a:srgbClr val="FFFFFF"/>
        </a:solidFill>
      </p:bgPr>
    </p:bg>
    <p:spTree>
      <p:nvGrpSpPr>
        <p:cNvPr id="1" name=""/>
        <p:cNvGrpSpPr/>
        <p:nvPr/>
      </p:nvGrpSpPr>
      <p:grpSpPr>
        <a:xfrm>
          <a:off x="0" y="0"/>
          <a:ext cx="0" cy="0"/>
          <a:chOff x="0" y="0"/>
          <a:chExt cx="0" cy="0"/>
        </a:xfrm>
      </p:grpSpPr>
      <p:pic>
        <p:nvPicPr>
          <p:cNvPr id="2" name="Image 0" descr="/workspace/scratch/45770fcbf08b/lonodji/public/odeb/identite/odeb-lonodji-embleme-clair-superposable-512.png">    </p:cNvPr>
          <p:cNvPicPr>
            <a:picLocks noChangeAspect="1"/>
          </p:cNvPicPr>
          <p:nvPr/>
        </p:nvPicPr>
        <p:blipFill>
          <a:blip r:embed="rId1"/>
          <a:stretch>
            <a:fillRect/>
          </a:stretch>
        </p:blipFill>
        <p:spPr>
          <a:xfrm>
            <a:off x="10820095" y="320040"/>
            <a:ext cx="868680" cy="8686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scratch/45770fcbf08b/lonodji/public/odeb/identite/odeb-lonodji-logo-horizontal-superposable-1000.png">    </p:cNvPr>
          <p:cNvPicPr>
            <a:picLocks noChangeAspect="1"/>
          </p:cNvPicPr>
          <p:nvPr/>
        </p:nvPicPr>
        <p:blipFill>
          <a:blip r:embed="rId1"/>
          <a:stretch>
            <a:fillRect/>
          </a:stretch>
        </p:blipFill>
        <p:spPr>
          <a:xfrm>
            <a:off x="411480" y="365760"/>
            <a:ext cx="4846320" cy="1554480"/>
          </a:xfrm>
          <a:prstGeom prst="rect">
            <a:avLst/>
          </a:prstGeom>
        </p:spPr>
      </p:pic>
      <p:sp>
        <p:nvSpPr>
          <p:cNvPr id="3" name="Text 0"/>
          <p:cNvSpPr txBox="1"/>
          <p:nvPr/>
        </p:nvSpPr>
        <p:spPr>
          <a:xfrm>
            <a:off x="548640" y="2148840"/>
            <a:ext cx="8595360" cy="2011680"/>
          </a:xfrm>
          <a:prstGeom prst="rect">
            <a:avLst/>
          </a:prstGeom>
          <a:noFill/>
          <a:ln/>
        </p:spPr>
        <p:txBody>
          <a:bodyPr wrap="square" lIns="0" tIns="0" rIns="0" bIns="0" rtlCol="0" anchor="b">
            <a:normAutofit/>
          </a:bodyPr>
          <a:lstStyle/>
          <a:p>
            <a:pPr indent="0" marL="0">
              <a:buNone/>
            </a:pPr>
            <a:r>
              <a:rPr lang="en-US" sz="4600" dirty="0">
                <a:solidFill>
                  <a:srgbClr val="FFFFFF"/>
                </a:solidFill>
                <a:latin typeface="Playfair Display" pitchFamily="34" charset="0"/>
                <a:ea typeface="Playfair Display" pitchFamily="34" charset="-122"/>
                <a:cs typeface="Playfair Display" pitchFamily="34" charset="-120"/>
              </a:rPr>
              <a:t>Projet ODEB LONODJI</a:t>
            </a:r>
            <a:endParaRPr lang="en-US" sz="4600" dirty="0"/>
          </a:p>
          <a:p>
            <a:pPr indent="0" marL="0">
              <a:buNone/>
            </a:pPr>
            <a:r>
              <a:rPr lang="en-US" sz="4600" dirty="0">
                <a:solidFill>
                  <a:srgbClr val="FFFFFF"/>
                </a:solidFill>
                <a:latin typeface="Playfair Display" pitchFamily="34" charset="0"/>
                <a:ea typeface="Playfair Display" pitchFamily="34" charset="-122"/>
                <a:cs typeface="Playfair Display" pitchFamily="34" charset="-120"/>
              </a:rPr>
              <a:t>Vision 2030</a:t>
            </a:r>
            <a:endParaRPr lang="en-US" sz="4600" dirty="0"/>
          </a:p>
        </p:txBody>
      </p:sp>
      <p:sp>
        <p:nvSpPr>
          <p:cNvPr id="4" name="Text 1"/>
          <p:cNvSpPr txBox="1"/>
          <p:nvPr/>
        </p:nvSpPr>
        <p:spPr>
          <a:xfrm>
            <a:off x="548640" y="4343400"/>
            <a:ext cx="8229600" cy="822960"/>
          </a:xfrm>
          <a:prstGeom prst="rect">
            <a:avLst/>
          </a:prstGeom>
          <a:noFill/>
          <a:ln/>
        </p:spPr>
        <p:txBody>
          <a:bodyPr wrap="square" lIns="0" tIns="0" rIns="0" bIns="0" rtlCol="0" anchor="ctr"/>
          <a:lstStyle/>
          <a:p>
            <a:pPr indent="0" marL="0">
              <a:buNone/>
            </a:pPr>
            <a:r>
              <a:rPr lang="en-US" sz="1800" dirty="0">
                <a:solidFill>
                  <a:srgbClr val="DCE6DC"/>
                </a:solidFill>
                <a:latin typeface="DM Sans" pitchFamily="34" charset="0"/>
                <a:ea typeface="DM Sans" pitchFamily="34" charset="-122"/>
                <a:cs typeface="DM Sans" pitchFamily="34" charset="-120"/>
              </a:rPr>
              <a:t>Présentation à l’assemblée de l’association ADEB LONODJI</a:t>
            </a:r>
            <a:endParaRPr lang="en-US" sz="1800" dirty="0"/>
          </a:p>
        </p:txBody>
      </p:sp>
      <p:sp>
        <p:nvSpPr>
          <p:cNvPr id="5" name="Text 2"/>
          <p:cNvSpPr txBox="1"/>
          <p:nvPr/>
        </p:nvSpPr>
        <p:spPr>
          <a:xfrm>
            <a:off x="548640" y="5303520"/>
            <a:ext cx="8229600" cy="457200"/>
          </a:xfrm>
          <a:prstGeom prst="rect">
            <a:avLst/>
          </a:prstGeom>
          <a:noFill/>
          <a:ln/>
        </p:spPr>
        <p:txBody>
          <a:bodyPr wrap="square" lIns="0" tIns="0" rIns="0" bIns="0" rtlCol="0" anchor="ctr"/>
          <a:lstStyle/>
          <a:p>
            <a:pPr indent="0" marL="0">
              <a:buNone/>
            </a:pPr>
            <a:r>
              <a:rPr lang="en-US" sz="1100" dirty="0">
                <a:solidFill>
                  <a:srgbClr val="AAB9B0"/>
                </a:solidFill>
                <a:latin typeface="DM Sans" pitchFamily="34" charset="0"/>
                <a:ea typeface="DM Sans" pitchFamily="34" charset="-122"/>
                <a:cs typeface="DM Sans" pitchFamily="34" charset="-120"/>
              </a:rPr>
              <a:t>Document de travail préparé à partir du livre blanc (28 septembre 2026). Rien de ce qui suit n’est décidé ni financé : l’assemblée tranche.</a:t>
            </a:r>
            <a:endParaRPr lang="en-US" sz="1100" dirty="0"/>
          </a:p>
        </p:txBody>
      </p:sp>
      <p:sp>
        <p:nvSpPr>
          <p:cNvPr id="6"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AAB9B0"/>
                </a:solidFill>
                <a:latin typeface="DM Sans" pitchFamily="34" charset="0"/>
                <a:ea typeface="DM Sans" pitchFamily="34" charset="-122"/>
                <a:cs typeface="DM Sans" pitchFamily="34" charset="-120"/>
              </a:rPr>
              <a:t>ODEB LONODJI · lonodji.org/odeb</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Un projet pour les quarante ans des fondations</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POURQUOI</a:t>
            </a:r>
            <a:endParaRPr lang="en-US" sz="900" dirty="0"/>
          </a:p>
        </p:txBody>
      </p:sp>
      <p:sp>
        <p:nvSpPr>
          <p:cNvPr id="4" name="Text 2"/>
          <p:cNvSpPr txBox="1"/>
          <p:nvPr/>
        </p:nvSpPr>
        <p:spPr>
          <a:xfrm>
            <a:off x="548640" y="1691640"/>
            <a:ext cx="10881360" cy="4206240"/>
          </a:xfrm>
          <a:prstGeom prst="rect">
            <a:avLst/>
          </a:prstGeom>
          <a:noFill/>
          <a:ln/>
        </p:spPr>
        <p:txBody>
          <a:bodyPr wrap="square" lIns="0" tIns="0" rIns="0" bIns="0" rtlCol="0" anchor="t">
            <a:normAutofit/>
          </a:bodyPr>
          <a:lstStyle/>
          <a:p>
            <a:pPr indent="0" marL="0">
              <a:lnSpc>
                <a:spcPct val="115000"/>
              </a:lnSpc>
              <a:spcAft>
                <a:spcPts val="1000"/>
              </a:spcAft>
              <a:buNone/>
            </a:pPr>
            <a:r>
              <a:rPr lang="en-US" sz="1600" dirty="0">
                <a:solidFill>
                  <a:srgbClr val="10241E"/>
                </a:solidFill>
                <a:latin typeface="DM Sans" pitchFamily="34" charset="0"/>
                <a:ea typeface="DM Sans" pitchFamily="34" charset="-122"/>
                <a:cs typeface="DM Sans" pitchFamily="34" charset="-120"/>
              </a:rPr>
              <a:t>L’ODEB LONODJI est un projet stratégique porté par l’ADEB LONODJI visant à constituer, à terme, une organisation de référence dédiée au développement durable, à la recherche, au patrimoine et à l’émergence du pays bedjond.</a:t>
            </a:r>
            <a:endParaRPr lang="en-US" sz="1600" dirty="0"/>
          </a:p>
          <a:p>
            <a:pPr indent="0" marL="0">
              <a:lnSpc>
                <a:spcPct val="115000"/>
              </a:lnSpc>
              <a:spcAft>
                <a:spcPts val="1000"/>
              </a:spcAft>
              <a:buNone/>
            </a:pPr>
            <a:r>
              <a:rPr lang="en-US" sz="1600" dirty="0">
                <a:solidFill>
                  <a:srgbClr val="10241E"/>
                </a:solidFill>
                <a:latin typeface="DM Sans" pitchFamily="34" charset="0"/>
                <a:ea typeface="DM Sans" pitchFamily="34" charset="-122"/>
                <a:cs typeface="DM Sans" pitchFamily="34" charset="-120"/>
              </a:rPr>
              <a:t>Projet de transformation institutionnelle visant à doter le pays bedjond d’un outil permanent de recherche, de documentation, de développement territorial, d’innovation, de préservation du patrimoine et de mobilisation de la diaspora.</a:t>
            </a:r>
            <a:endParaRPr lang="en-US" sz="1600" dirty="0"/>
          </a:p>
          <a:p>
            <a:pPr indent="0" marL="0">
              <a:lnSpc>
                <a:spcPct val="115000"/>
              </a:lnSpc>
              <a:spcAft>
                <a:spcPts val="1000"/>
              </a:spcAft>
              <a:buNone/>
            </a:pPr>
            <a:r>
              <a:rPr lang="en-US" sz="1600" dirty="0">
                <a:solidFill>
                  <a:srgbClr val="10241E"/>
                </a:solidFill>
                <a:latin typeface="DM Sans" pitchFamily="34" charset="0"/>
                <a:ea typeface="DM Sans" pitchFamily="34" charset="-122"/>
                <a:cs typeface="DM Sans" pitchFamily="34" charset="-120"/>
              </a:rPr>
              <a:t>Présenté le 28 septembre 2026, pour les quarante ans de ses fondations (1986-2026). Le livre blanc, les six programmes et la feuille de route sont publiés sur lonodji.org/odeb.</a:t>
            </a:r>
            <a:endParaRPr lang="en-US" sz="1600" dirty="0"/>
          </a:p>
        </p:txBody>
      </p:sp>
      <p:sp>
        <p:nvSpPr>
          <p:cNvPr id="5"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6" name="Text 4"/>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2 / 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Cinq repères</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CE QUE L’ODEB DEVRA ÊTRE EN 2030</a:t>
            </a:r>
            <a:endParaRPr lang="en-US" sz="900" dirty="0"/>
          </a:p>
        </p:txBody>
      </p:sp>
      <p:sp>
        <p:nvSpPr>
          <p:cNvPr id="4" name="Shape 2"/>
          <p:cNvSpPr/>
          <p:nvPr/>
        </p:nvSpPr>
        <p:spPr>
          <a:xfrm>
            <a:off x="548640" y="1856232"/>
            <a:ext cx="457200" cy="457200"/>
          </a:xfrm>
          <a:prstGeom prst="ellipse">
            <a:avLst/>
          </a:prstGeom>
          <a:solidFill>
            <a:srgbClr val="B6CF45"/>
          </a:solidFill>
          <a:ln w="12700">
            <a:solidFill>
              <a:srgbClr val="B6CF45"/>
            </a:solidFill>
            <a:prstDash val="solid"/>
          </a:ln>
        </p:spPr>
      </p:sp>
      <p:sp>
        <p:nvSpPr>
          <p:cNvPr id="5" name="Text 3"/>
          <p:cNvSpPr txBox="1"/>
          <p:nvPr/>
        </p:nvSpPr>
        <p:spPr>
          <a:xfrm>
            <a:off x="548640" y="185623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1</a:t>
            </a:r>
            <a:endParaRPr lang="en-US" sz="1200" dirty="0"/>
          </a:p>
        </p:txBody>
      </p:sp>
      <p:sp>
        <p:nvSpPr>
          <p:cNvPr id="6" name="Text 4"/>
          <p:cNvSpPr txBox="1"/>
          <p:nvPr/>
        </p:nvSpPr>
        <p:spPr>
          <a:xfrm>
            <a:off x="1234440" y="1783080"/>
            <a:ext cx="10378440" cy="704088"/>
          </a:xfrm>
          <a:prstGeom prst="rect">
            <a:avLst/>
          </a:prstGeom>
          <a:noFill/>
          <a:ln/>
        </p:spPr>
        <p:txBody>
          <a:bodyPr wrap="square" lIns="0" tIns="0" rIns="0" bIns="0" rtlCol="0" anchor="ctr">
            <a:normAutofit/>
          </a:bodyPr>
          <a:lstStyle/>
          <a:p>
            <a:pPr indent="0" marL="0">
              <a:buNone/>
            </a:pPr>
            <a:r>
              <a:rPr lang="en-US" sz="1800" dirty="0">
                <a:solidFill>
                  <a:srgbClr val="10241E"/>
                </a:solidFill>
                <a:latin typeface="DM Sans" pitchFamily="34" charset="0"/>
                <a:ea typeface="DM Sans" pitchFamily="34" charset="-122"/>
                <a:cs typeface="DM Sans" pitchFamily="34" charset="-120"/>
              </a:rPr>
              <a:t>La mémoire numérique du peuple bedjond</a:t>
            </a:r>
            <a:endParaRPr lang="en-US" sz="1800" dirty="0"/>
          </a:p>
        </p:txBody>
      </p:sp>
      <p:sp>
        <p:nvSpPr>
          <p:cNvPr id="7" name="Shape 5"/>
          <p:cNvSpPr/>
          <p:nvPr/>
        </p:nvSpPr>
        <p:spPr>
          <a:xfrm>
            <a:off x="1234440" y="2551176"/>
            <a:ext cx="10378440" cy="0"/>
          </a:xfrm>
          <a:prstGeom prst="line">
            <a:avLst/>
          </a:prstGeom>
          <a:noFill/>
          <a:ln w="9525">
            <a:solidFill>
              <a:srgbClr val="D5DDD6"/>
            </a:solidFill>
            <a:prstDash val="solid"/>
          </a:ln>
        </p:spPr>
      </p:sp>
      <p:sp>
        <p:nvSpPr>
          <p:cNvPr id="8" name="Shape 6"/>
          <p:cNvSpPr/>
          <p:nvPr/>
        </p:nvSpPr>
        <p:spPr>
          <a:xfrm>
            <a:off x="548640" y="2697480"/>
            <a:ext cx="457200" cy="457200"/>
          </a:xfrm>
          <a:prstGeom prst="ellipse">
            <a:avLst/>
          </a:prstGeom>
          <a:solidFill>
            <a:srgbClr val="B6CF45"/>
          </a:solidFill>
          <a:ln w="12700">
            <a:solidFill>
              <a:srgbClr val="B6CF45"/>
            </a:solidFill>
            <a:prstDash val="solid"/>
          </a:ln>
        </p:spPr>
      </p:sp>
      <p:sp>
        <p:nvSpPr>
          <p:cNvPr id="9" name="Text 7"/>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2</a:t>
            </a:r>
            <a:endParaRPr lang="en-US" sz="1200" dirty="0"/>
          </a:p>
        </p:txBody>
      </p:sp>
      <p:sp>
        <p:nvSpPr>
          <p:cNvPr id="10" name="Text 8"/>
          <p:cNvSpPr txBox="1"/>
          <p:nvPr/>
        </p:nvSpPr>
        <p:spPr>
          <a:xfrm>
            <a:off x="1234440" y="2624328"/>
            <a:ext cx="10378440" cy="704088"/>
          </a:xfrm>
          <a:prstGeom prst="rect">
            <a:avLst/>
          </a:prstGeom>
          <a:noFill/>
          <a:ln/>
        </p:spPr>
        <p:txBody>
          <a:bodyPr wrap="square" lIns="0" tIns="0" rIns="0" bIns="0" rtlCol="0" anchor="ctr">
            <a:normAutofit/>
          </a:bodyPr>
          <a:lstStyle/>
          <a:p>
            <a:pPr indent="0" marL="0">
              <a:buNone/>
            </a:pPr>
            <a:r>
              <a:rPr lang="en-US" sz="1800" dirty="0">
                <a:solidFill>
                  <a:srgbClr val="10241E"/>
                </a:solidFill>
                <a:latin typeface="DM Sans" pitchFamily="34" charset="0"/>
                <a:ea typeface="DM Sans" pitchFamily="34" charset="-122"/>
                <a:cs typeface="DM Sans" pitchFamily="34" charset="-120"/>
              </a:rPr>
              <a:t>La principale plateforme de mobilisation de la diaspora bedjond</a:t>
            </a:r>
            <a:endParaRPr lang="en-US" sz="1800" dirty="0"/>
          </a:p>
        </p:txBody>
      </p:sp>
      <p:sp>
        <p:nvSpPr>
          <p:cNvPr id="11" name="Shape 9"/>
          <p:cNvSpPr/>
          <p:nvPr/>
        </p:nvSpPr>
        <p:spPr>
          <a:xfrm>
            <a:off x="1234440" y="3392424"/>
            <a:ext cx="10378440" cy="0"/>
          </a:xfrm>
          <a:prstGeom prst="line">
            <a:avLst/>
          </a:prstGeom>
          <a:noFill/>
          <a:ln w="9525">
            <a:solidFill>
              <a:srgbClr val="D5DDD6"/>
            </a:solidFill>
            <a:prstDash val="solid"/>
          </a:ln>
        </p:spPr>
      </p:sp>
      <p:sp>
        <p:nvSpPr>
          <p:cNvPr id="12" name="Shape 10"/>
          <p:cNvSpPr/>
          <p:nvPr/>
        </p:nvSpPr>
        <p:spPr>
          <a:xfrm>
            <a:off x="548640" y="3538728"/>
            <a:ext cx="457200" cy="457200"/>
          </a:xfrm>
          <a:prstGeom prst="ellipse">
            <a:avLst/>
          </a:prstGeom>
          <a:solidFill>
            <a:srgbClr val="B6CF45"/>
          </a:solidFill>
          <a:ln w="12700">
            <a:solidFill>
              <a:srgbClr val="B6CF45"/>
            </a:solidFill>
            <a:prstDash val="solid"/>
          </a:ln>
        </p:spPr>
      </p:sp>
      <p:sp>
        <p:nvSpPr>
          <p:cNvPr id="13" name="Text 11"/>
          <p:cNvSpPr txBox="1"/>
          <p:nvPr/>
        </p:nvSpPr>
        <p:spPr>
          <a:xfrm>
            <a:off x="548640" y="3538728"/>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3</a:t>
            </a:r>
            <a:endParaRPr lang="en-US" sz="1200" dirty="0"/>
          </a:p>
        </p:txBody>
      </p:sp>
      <p:sp>
        <p:nvSpPr>
          <p:cNvPr id="14" name="Text 12"/>
          <p:cNvSpPr txBox="1"/>
          <p:nvPr/>
        </p:nvSpPr>
        <p:spPr>
          <a:xfrm>
            <a:off x="1234440" y="3465576"/>
            <a:ext cx="10378440" cy="704088"/>
          </a:xfrm>
          <a:prstGeom prst="rect">
            <a:avLst/>
          </a:prstGeom>
          <a:noFill/>
          <a:ln/>
        </p:spPr>
        <p:txBody>
          <a:bodyPr wrap="square" lIns="0" tIns="0" rIns="0" bIns="0" rtlCol="0" anchor="ctr">
            <a:normAutofit/>
          </a:bodyPr>
          <a:lstStyle/>
          <a:p>
            <a:pPr indent="0" marL="0">
              <a:buNone/>
            </a:pPr>
            <a:r>
              <a:rPr lang="en-US" sz="1800" dirty="0">
                <a:solidFill>
                  <a:srgbClr val="10241E"/>
                </a:solidFill>
                <a:latin typeface="DM Sans" pitchFamily="34" charset="0"/>
                <a:ea typeface="DM Sans" pitchFamily="34" charset="-122"/>
                <a:cs typeface="DM Sans" pitchFamily="34" charset="-120"/>
              </a:rPr>
              <a:t>Un observatoire citoyen du Mandoul Occidental</a:t>
            </a:r>
            <a:endParaRPr lang="en-US" sz="1800" dirty="0"/>
          </a:p>
        </p:txBody>
      </p:sp>
      <p:sp>
        <p:nvSpPr>
          <p:cNvPr id="15" name="Shape 13"/>
          <p:cNvSpPr/>
          <p:nvPr/>
        </p:nvSpPr>
        <p:spPr>
          <a:xfrm>
            <a:off x="1234440" y="4233672"/>
            <a:ext cx="10378440" cy="0"/>
          </a:xfrm>
          <a:prstGeom prst="line">
            <a:avLst/>
          </a:prstGeom>
          <a:noFill/>
          <a:ln w="9525">
            <a:solidFill>
              <a:srgbClr val="D5DDD6"/>
            </a:solidFill>
            <a:prstDash val="solid"/>
          </a:ln>
        </p:spPr>
      </p:sp>
      <p:sp>
        <p:nvSpPr>
          <p:cNvPr id="16" name="Shape 14"/>
          <p:cNvSpPr/>
          <p:nvPr/>
        </p:nvSpPr>
        <p:spPr>
          <a:xfrm>
            <a:off x="548640" y="4379976"/>
            <a:ext cx="457200" cy="457200"/>
          </a:xfrm>
          <a:prstGeom prst="ellipse">
            <a:avLst/>
          </a:prstGeom>
          <a:solidFill>
            <a:srgbClr val="B6CF45"/>
          </a:solidFill>
          <a:ln w="12700">
            <a:solidFill>
              <a:srgbClr val="B6CF45"/>
            </a:solidFill>
            <a:prstDash val="solid"/>
          </a:ln>
        </p:spPr>
      </p:sp>
      <p:sp>
        <p:nvSpPr>
          <p:cNvPr id="17" name="Text 15"/>
          <p:cNvSpPr txBox="1"/>
          <p:nvPr/>
        </p:nvSpPr>
        <p:spPr>
          <a:xfrm>
            <a:off x="548640" y="4379976"/>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4</a:t>
            </a:r>
            <a:endParaRPr lang="en-US" sz="1200" dirty="0"/>
          </a:p>
        </p:txBody>
      </p:sp>
      <p:sp>
        <p:nvSpPr>
          <p:cNvPr id="18" name="Text 16"/>
          <p:cNvSpPr txBox="1"/>
          <p:nvPr/>
        </p:nvSpPr>
        <p:spPr>
          <a:xfrm>
            <a:off x="1234440" y="4306824"/>
            <a:ext cx="10378440" cy="704088"/>
          </a:xfrm>
          <a:prstGeom prst="rect">
            <a:avLst/>
          </a:prstGeom>
          <a:noFill/>
          <a:ln/>
        </p:spPr>
        <p:txBody>
          <a:bodyPr wrap="square" lIns="0" tIns="0" rIns="0" bIns="0" rtlCol="0" anchor="ctr">
            <a:normAutofit/>
          </a:bodyPr>
          <a:lstStyle/>
          <a:p>
            <a:pPr indent="0" marL="0">
              <a:buNone/>
            </a:pPr>
            <a:r>
              <a:rPr lang="en-US" sz="1800" dirty="0">
                <a:solidFill>
                  <a:srgbClr val="10241E"/>
                </a:solidFill>
                <a:latin typeface="DM Sans" pitchFamily="34" charset="0"/>
                <a:ea typeface="DM Sans" pitchFamily="34" charset="-122"/>
                <a:cs typeface="DM Sans" pitchFamily="34" charset="-120"/>
              </a:rPr>
              <a:t>Un centre de compétences communautaires</a:t>
            </a:r>
            <a:endParaRPr lang="en-US" sz="1800" dirty="0"/>
          </a:p>
        </p:txBody>
      </p:sp>
      <p:sp>
        <p:nvSpPr>
          <p:cNvPr id="19" name="Shape 17"/>
          <p:cNvSpPr/>
          <p:nvPr/>
        </p:nvSpPr>
        <p:spPr>
          <a:xfrm>
            <a:off x="1234440" y="5074920"/>
            <a:ext cx="10378440" cy="0"/>
          </a:xfrm>
          <a:prstGeom prst="line">
            <a:avLst/>
          </a:prstGeom>
          <a:noFill/>
          <a:ln w="9525">
            <a:solidFill>
              <a:srgbClr val="D5DDD6"/>
            </a:solidFill>
            <a:prstDash val="solid"/>
          </a:ln>
        </p:spPr>
      </p:sp>
      <p:sp>
        <p:nvSpPr>
          <p:cNvPr id="20" name="Shape 18"/>
          <p:cNvSpPr/>
          <p:nvPr/>
        </p:nvSpPr>
        <p:spPr>
          <a:xfrm>
            <a:off x="548640" y="5221224"/>
            <a:ext cx="457200" cy="457200"/>
          </a:xfrm>
          <a:prstGeom prst="ellipse">
            <a:avLst/>
          </a:prstGeom>
          <a:solidFill>
            <a:srgbClr val="B6CF45"/>
          </a:solidFill>
          <a:ln w="12700">
            <a:solidFill>
              <a:srgbClr val="B6CF45"/>
            </a:solidFill>
            <a:prstDash val="solid"/>
          </a:ln>
        </p:spPr>
      </p:sp>
      <p:sp>
        <p:nvSpPr>
          <p:cNvPr id="21" name="Text 19"/>
          <p:cNvSpPr txBox="1"/>
          <p:nvPr/>
        </p:nvSpPr>
        <p:spPr>
          <a:xfrm>
            <a:off x="548640" y="5221224"/>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5</a:t>
            </a:r>
            <a:endParaRPr lang="en-US" sz="1200" dirty="0"/>
          </a:p>
        </p:txBody>
      </p:sp>
      <p:sp>
        <p:nvSpPr>
          <p:cNvPr id="22" name="Text 20"/>
          <p:cNvSpPr txBox="1"/>
          <p:nvPr/>
        </p:nvSpPr>
        <p:spPr>
          <a:xfrm>
            <a:off x="1234440" y="5148072"/>
            <a:ext cx="10378440" cy="704088"/>
          </a:xfrm>
          <a:prstGeom prst="rect">
            <a:avLst/>
          </a:prstGeom>
          <a:noFill/>
          <a:ln/>
        </p:spPr>
        <p:txBody>
          <a:bodyPr wrap="square" lIns="0" tIns="0" rIns="0" bIns="0" rtlCol="0" anchor="ctr">
            <a:normAutofit/>
          </a:bodyPr>
          <a:lstStyle/>
          <a:p>
            <a:pPr indent="0" marL="0">
              <a:buNone/>
            </a:pPr>
            <a:r>
              <a:rPr lang="en-US" sz="1800" dirty="0">
                <a:solidFill>
                  <a:srgbClr val="10241E"/>
                </a:solidFill>
                <a:latin typeface="DM Sans" pitchFamily="34" charset="0"/>
                <a:ea typeface="DM Sans" pitchFamily="34" charset="-122"/>
                <a:cs typeface="DM Sans" pitchFamily="34" charset="-120"/>
              </a:rPr>
              <a:t>Une référence africaine de développement territorial piloté par la communauté</a:t>
            </a:r>
            <a:endParaRPr lang="en-US" sz="1800" dirty="0"/>
          </a:p>
        </p:txBody>
      </p:sp>
      <p:sp>
        <p:nvSpPr>
          <p:cNvPr id="23" name="Text 21"/>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4" name="Text 22"/>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3 / 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Ce que le projet fait déjà, mission par mission</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SIX MISSIONS</a:t>
            </a:r>
            <a:endParaRPr lang="en-US" sz="900" dirty="0"/>
          </a:p>
        </p:txBody>
      </p:sp>
      <p:sp>
        <p:nvSpPr>
          <p:cNvPr id="4" name="Shape 2"/>
          <p:cNvSpPr/>
          <p:nvPr/>
        </p:nvSpPr>
        <p:spPr>
          <a:xfrm>
            <a:off x="548640" y="1737360"/>
            <a:ext cx="3515258" cy="4206240"/>
          </a:xfrm>
          <a:prstGeom prst="roundRect">
            <a:avLst>
              <a:gd name="adj" fmla="val 4162"/>
            </a:avLst>
          </a:prstGeom>
          <a:solidFill>
            <a:srgbClr val="F4F6F1"/>
          </a:solidFill>
          <a:ln w="9525">
            <a:solidFill>
              <a:srgbClr val="D5DDD6"/>
            </a:solidFill>
            <a:prstDash val="solid"/>
          </a:ln>
        </p:spPr>
      </p:sp>
      <p:sp>
        <p:nvSpPr>
          <p:cNvPr id="5" name="Shape 3"/>
          <p:cNvSpPr/>
          <p:nvPr/>
        </p:nvSpPr>
        <p:spPr>
          <a:xfrm>
            <a:off x="822960" y="2011680"/>
            <a:ext cx="457200" cy="457200"/>
          </a:xfrm>
          <a:prstGeom prst="ellipse">
            <a:avLst/>
          </a:prstGeom>
          <a:solidFill>
            <a:srgbClr val="B6CF45"/>
          </a:solidFill>
          <a:ln w="12700">
            <a:solidFill>
              <a:srgbClr val="B6CF45"/>
            </a:solidFill>
            <a:prstDash val="solid"/>
          </a:ln>
        </p:spPr>
      </p:sp>
      <p:sp>
        <p:nvSpPr>
          <p:cNvPr id="6" name="Text 4"/>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1</a:t>
            </a:r>
            <a:endParaRPr lang="en-US" sz="1200" dirty="0"/>
          </a:p>
        </p:txBody>
      </p:sp>
      <p:sp>
        <p:nvSpPr>
          <p:cNvPr id="7" name="Text 5"/>
          <p:cNvSpPr txBox="1"/>
          <p:nvPr/>
        </p:nvSpPr>
        <p:spPr>
          <a:xfrm>
            <a:off x="1417320"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Recherche</a:t>
            </a:r>
            <a:endParaRPr lang="en-US" sz="1500" dirty="0"/>
          </a:p>
        </p:txBody>
      </p:sp>
      <p:sp>
        <p:nvSpPr>
          <p:cNvPr id="8" name="Text 6"/>
          <p:cNvSpPr txBox="1"/>
          <p:nvPr/>
        </p:nvSpPr>
        <p:spPr>
          <a:xfrm>
            <a:off x="822960"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Produire et rassembler des connaissances vérifiées sur le pays bedjond : histoire, langue, territoire, société.</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Bibliothèque numérique</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Base de recherche</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Thématique Recherche et enseignement supérieur</a:t>
            </a:r>
            <a:endParaRPr lang="en-US" sz="1250" dirty="0"/>
          </a:p>
        </p:txBody>
      </p:sp>
      <p:sp>
        <p:nvSpPr>
          <p:cNvPr id="9" name="Shape 7"/>
          <p:cNvSpPr/>
          <p:nvPr/>
        </p:nvSpPr>
        <p:spPr>
          <a:xfrm>
            <a:off x="4338218" y="1737360"/>
            <a:ext cx="3515258" cy="4206240"/>
          </a:xfrm>
          <a:prstGeom prst="roundRect">
            <a:avLst>
              <a:gd name="adj" fmla="val 4162"/>
            </a:avLst>
          </a:prstGeom>
          <a:solidFill>
            <a:srgbClr val="F4F6F1"/>
          </a:solidFill>
          <a:ln w="9525">
            <a:solidFill>
              <a:srgbClr val="D5DDD6"/>
            </a:solidFill>
            <a:prstDash val="solid"/>
          </a:ln>
        </p:spPr>
      </p:sp>
      <p:sp>
        <p:nvSpPr>
          <p:cNvPr id="10" name="Shape 8"/>
          <p:cNvSpPr/>
          <p:nvPr/>
        </p:nvSpPr>
        <p:spPr>
          <a:xfrm>
            <a:off x="4612538" y="2011680"/>
            <a:ext cx="457200" cy="457200"/>
          </a:xfrm>
          <a:prstGeom prst="ellipse">
            <a:avLst/>
          </a:prstGeom>
          <a:solidFill>
            <a:srgbClr val="B6CF45"/>
          </a:solidFill>
          <a:ln w="12700">
            <a:solidFill>
              <a:srgbClr val="B6CF45"/>
            </a:solidFill>
            <a:prstDash val="solid"/>
          </a:ln>
        </p:spPr>
      </p:sp>
      <p:sp>
        <p:nvSpPr>
          <p:cNvPr id="11" name="Text 9"/>
          <p:cNvSpPr txBox="1"/>
          <p:nvPr/>
        </p:nvSpPr>
        <p:spPr>
          <a:xfrm>
            <a:off x="4612538"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2</a:t>
            </a:r>
            <a:endParaRPr lang="en-US" sz="1200" dirty="0"/>
          </a:p>
        </p:txBody>
      </p:sp>
      <p:sp>
        <p:nvSpPr>
          <p:cNvPr id="12" name="Text 10"/>
          <p:cNvSpPr txBox="1"/>
          <p:nvPr/>
        </p:nvSpPr>
        <p:spPr>
          <a:xfrm>
            <a:off x="5206898"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Documentation</a:t>
            </a:r>
            <a:endParaRPr lang="en-US" sz="1500" dirty="0"/>
          </a:p>
        </p:txBody>
      </p:sp>
      <p:sp>
        <p:nvSpPr>
          <p:cNvPr id="13" name="Text 11"/>
          <p:cNvSpPr txBox="1"/>
          <p:nvPr/>
        </p:nvSpPr>
        <p:spPr>
          <a:xfrm>
            <a:off x="4612538"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Garder, classer, dater et rendre accessibles les documents, les données et les témoignages.</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Documents à télécharger</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Témoignages et banque d’images</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Journal des corrections</a:t>
            </a:r>
            <a:endParaRPr lang="en-US" sz="1250" dirty="0"/>
          </a:p>
        </p:txBody>
      </p:sp>
      <p:sp>
        <p:nvSpPr>
          <p:cNvPr id="14" name="Shape 12"/>
          <p:cNvSpPr/>
          <p:nvPr/>
        </p:nvSpPr>
        <p:spPr>
          <a:xfrm>
            <a:off x="8127797" y="1737360"/>
            <a:ext cx="3515258" cy="4206240"/>
          </a:xfrm>
          <a:prstGeom prst="roundRect">
            <a:avLst>
              <a:gd name="adj" fmla="val 4162"/>
            </a:avLst>
          </a:prstGeom>
          <a:solidFill>
            <a:srgbClr val="F4F6F1"/>
          </a:solidFill>
          <a:ln w="9525">
            <a:solidFill>
              <a:srgbClr val="D5DDD6"/>
            </a:solidFill>
            <a:prstDash val="solid"/>
          </a:ln>
        </p:spPr>
      </p:sp>
      <p:sp>
        <p:nvSpPr>
          <p:cNvPr id="15" name="Shape 13"/>
          <p:cNvSpPr/>
          <p:nvPr/>
        </p:nvSpPr>
        <p:spPr>
          <a:xfrm>
            <a:off x="8402117" y="2011680"/>
            <a:ext cx="457200" cy="457200"/>
          </a:xfrm>
          <a:prstGeom prst="ellipse">
            <a:avLst/>
          </a:prstGeom>
          <a:solidFill>
            <a:srgbClr val="B6CF45"/>
          </a:solidFill>
          <a:ln w="12700">
            <a:solidFill>
              <a:srgbClr val="B6CF45"/>
            </a:solidFill>
            <a:prstDash val="solid"/>
          </a:ln>
        </p:spPr>
      </p:sp>
      <p:sp>
        <p:nvSpPr>
          <p:cNvPr id="16" name="Text 14"/>
          <p:cNvSpPr txBox="1"/>
          <p:nvPr/>
        </p:nvSpPr>
        <p:spPr>
          <a:xfrm>
            <a:off x="8402117"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3</a:t>
            </a:r>
            <a:endParaRPr lang="en-US" sz="1200" dirty="0"/>
          </a:p>
        </p:txBody>
      </p:sp>
      <p:sp>
        <p:nvSpPr>
          <p:cNvPr id="17" name="Text 15"/>
          <p:cNvSpPr txBox="1"/>
          <p:nvPr/>
        </p:nvSpPr>
        <p:spPr>
          <a:xfrm>
            <a:off x="8996477"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Développement territorial</a:t>
            </a:r>
            <a:endParaRPr lang="en-US" sz="1500" dirty="0"/>
          </a:p>
        </p:txBody>
      </p:sp>
      <p:sp>
        <p:nvSpPr>
          <p:cNvPr id="18" name="Text 16"/>
          <p:cNvSpPr txBox="1"/>
          <p:nvPr/>
        </p:nvSpPr>
        <p:spPr>
          <a:xfrm>
            <a:off x="8402117"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Diagnostiquer, prioriser, plaider et suivre, village par village, ce qui manque et ce qui avance.</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Observatoire</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Diagnostic territorial</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Plaidoyers</a:t>
            </a:r>
            <a:endParaRPr lang="en-US" sz="1250" dirty="0"/>
          </a:p>
        </p:txBody>
      </p:sp>
      <p:sp>
        <p:nvSpPr>
          <p:cNvPr id="19" name="Text 1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0" name="Text 18"/>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4 / 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Ce que le projet fait déjà, mission par mission</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SIX MISSIONS (SUITE)</a:t>
            </a:r>
            <a:endParaRPr lang="en-US" sz="900" dirty="0"/>
          </a:p>
        </p:txBody>
      </p:sp>
      <p:sp>
        <p:nvSpPr>
          <p:cNvPr id="4" name="Shape 2"/>
          <p:cNvSpPr/>
          <p:nvPr/>
        </p:nvSpPr>
        <p:spPr>
          <a:xfrm>
            <a:off x="548640" y="1737360"/>
            <a:ext cx="3515258" cy="4206240"/>
          </a:xfrm>
          <a:prstGeom prst="roundRect">
            <a:avLst>
              <a:gd name="adj" fmla="val 4162"/>
            </a:avLst>
          </a:prstGeom>
          <a:solidFill>
            <a:srgbClr val="F4F6F1"/>
          </a:solidFill>
          <a:ln w="9525">
            <a:solidFill>
              <a:srgbClr val="D5DDD6"/>
            </a:solidFill>
            <a:prstDash val="solid"/>
          </a:ln>
        </p:spPr>
      </p:sp>
      <p:sp>
        <p:nvSpPr>
          <p:cNvPr id="5" name="Shape 3"/>
          <p:cNvSpPr/>
          <p:nvPr/>
        </p:nvSpPr>
        <p:spPr>
          <a:xfrm>
            <a:off x="822960" y="2011680"/>
            <a:ext cx="457200" cy="457200"/>
          </a:xfrm>
          <a:prstGeom prst="ellipse">
            <a:avLst/>
          </a:prstGeom>
          <a:solidFill>
            <a:srgbClr val="B6CF45"/>
          </a:solidFill>
          <a:ln w="12700">
            <a:solidFill>
              <a:srgbClr val="B6CF45"/>
            </a:solidFill>
            <a:prstDash val="solid"/>
          </a:ln>
        </p:spPr>
      </p:sp>
      <p:sp>
        <p:nvSpPr>
          <p:cNvPr id="6" name="Text 4"/>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4</a:t>
            </a:r>
            <a:endParaRPr lang="en-US" sz="1200" dirty="0"/>
          </a:p>
        </p:txBody>
      </p:sp>
      <p:sp>
        <p:nvSpPr>
          <p:cNvPr id="7" name="Text 5"/>
          <p:cNvSpPr txBox="1"/>
          <p:nvPr/>
        </p:nvSpPr>
        <p:spPr>
          <a:xfrm>
            <a:off x="1417320"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Innovation</a:t>
            </a:r>
            <a:endParaRPr lang="en-US" sz="1500" dirty="0"/>
          </a:p>
        </p:txBody>
      </p:sp>
      <p:sp>
        <p:nvSpPr>
          <p:cNvPr id="8" name="Text 6"/>
          <p:cNvSpPr txBox="1"/>
          <p:nvPr/>
        </p:nvSpPr>
        <p:spPr>
          <a:xfrm>
            <a:off x="822960"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Mettre le numérique, les données et l’intelligence artificielle au service du territoire, de la langue et des jeunes.</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Espace numérique communautaire (projet, souscription sans paiement)</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Application pour téléphone</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Numérique et innovation : leviers transversaux</a:t>
            </a:r>
            <a:endParaRPr lang="en-US" sz="1250" dirty="0"/>
          </a:p>
        </p:txBody>
      </p:sp>
      <p:sp>
        <p:nvSpPr>
          <p:cNvPr id="9" name="Shape 7"/>
          <p:cNvSpPr/>
          <p:nvPr/>
        </p:nvSpPr>
        <p:spPr>
          <a:xfrm>
            <a:off x="4338218" y="1737360"/>
            <a:ext cx="3515258" cy="4206240"/>
          </a:xfrm>
          <a:prstGeom prst="roundRect">
            <a:avLst>
              <a:gd name="adj" fmla="val 4162"/>
            </a:avLst>
          </a:prstGeom>
          <a:solidFill>
            <a:srgbClr val="F4F6F1"/>
          </a:solidFill>
          <a:ln w="9525">
            <a:solidFill>
              <a:srgbClr val="D5DDD6"/>
            </a:solidFill>
            <a:prstDash val="solid"/>
          </a:ln>
        </p:spPr>
      </p:sp>
      <p:sp>
        <p:nvSpPr>
          <p:cNvPr id="10" name="Shape 8"/>
          <p:cNvSpPr/>
          <p:nvPr/>
        </p:nvSpPr>
        <p:spPr>
          <a:xfrm>
            <a:off x="4612538" y="2011680"/>
            <a:ext cx="457200" cy="457200"/>
          </a:xfrm>
          <a:prstGeom prst="ellipse">
            <a:avLst/>
          </a:prstGeom>
          <a:solidFill>
            <a:srgbClr val="B6CF45"/>
          </a:solidFill>
          <a:ln w="12700">
            <a:solidFill>
              <a:srgbClr val="B6CF45"/>
            </a:solidFill>
            <a:prstDash val="solid"/>
          </a:ln>
        </p:spPr>
      </p:sp>
      <p:sp>
        <p:nvSpPr>
          <p:cNvPr id="11" name="Text 9"/>
          <p:cNvSpPr txBox="1"/>
          <p:nvPr/>
        </p:nvSpPr>
        <p:spPr>
          <a:xfrm>
            <a:off x="4612538"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5</a:t>
            </a:r>
            <a:endParaRPr lang="en-US" sz="1200" dirty="0"/>
          </a:p>
        </p:txBody>
      </p:sp>
      <p:sp>
        <p:nvSpPr>
          <p:cNvPr id="12" name="Text 10"/>
          <p:cNvSpPr txBox="1"/>
          <p:nvPr/>
        </p:nvSpPr>
        <p:spPr>
          <a:xfrm>
            <a:off x="5206898"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Préservation du patrimoine</a:t>
            </a:r>
            <a:endParaRPr lang="en-US" sz="1500" dirty="0"/>
          </a:p>
        </p:txBody>
      </p:sp>
      <p:sp>
        <p:nvSpPr>
          <p:cNvPr id="13" name="Text 11"/>
          <p:cNvSpPr txBox="1"/>
          <p:nvPr/>
        </p:nvSpPr>
        <p:spPr>
          <a:xfrm>
            <a:off x="4612538"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Protéger et transmettre la langue nangnda, les lieux, les généalogies et la mémoire des anciens.</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La langue nangnda</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Lieux sacrés et sépultures</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Généalogies</a:t>
            </a:r>
            <a:endParaRPr lang="en-US" sz="1250" dirty="0"/>
          </a:p>
        </p:txBody>
      </p:sp>
      <p:sp>
        <p:nvSpPr>
          <p:cNvPr id="14" name="Shape 12"/>
          <p:cNvSpPr/>
          <p:nvPr/>
        </p:nvSpPr>
        <p:spPr>
          <a:xfrm>
            <a:off x="8127797" y="1737360"/>
            <a:ext cx="3515258" cy="4206240"/>
          </a:xfrm>
          <a:prstGeom prst="roundRect">
            <a:avLst>
              <a:gd name="adj" fmla="val 4162"/>
            </a:avLst>
          </a:prstGeom>
          <a:solidFill>
            <a:srgbClr val="F4F6F1"/>
          </a:solidFill>
          <a:ln w="9525">
            <a:solidFill>
              <a:srgbClr val="D5DDD6"/>
            </a:solidFill>
            <a:prstDash val="solid"/>
          </a:ln>
        </p:spPr>
      </p:sp>
      <p:sp>
        <p:nvSpPr>
          <p:cNvPr id="15" name="Shape 13"/>
          <p:cNvSpPr/>
          <p:nvPr/>
        </p:nvSpPr>
        <p:spPr>
          <a:xfrm>
            <a:off x="8402117" y="2011680"/>
            <a:ext cx="457200" cy="457200"/>
          </a:xfrm>
          <a:prstGeom prst="ellipse">
            <a:avLst/>
          </a:prstGeom>
          <a:solidFill>
            <a:srgbClr val="B6CF45"/>
          </a:solidFill>
          <a:ln w="12700">
            <a:solidFill>
              <a:srgbClr val="B6CF45"/>
            </a:solidFill>
            <a:prstDash val="solid"/>
          </a:ln>
        </p:spPr>
      </p:sp>
      <p:sp>
        <p:nvSpPr>
          <p:cNvPr id="16" name="Text 14"/>
          <p:cNvSpPr txBox="1"/>
          <p:nvPr/>
        </p:nvSpPr>
        <p:spPr>
          <a:xfrm>
            <a:off x="8402117"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6</a:t>
            </a:r>
            <a:endParaRPr lang="en-US" sz="1200" dirty="0"/>
          </a:p>
        </p:txBody>
      </p:sp>
      <p:sp>
        <p:nvSpPr>
          <p:cNvPr id="17" name="Text 15"/>
          <p:cNvSpPr txBox="1"/>
          <p:nvPr/>
        </p:nvSpPr>
        <p:spPr>
          <a:xfrm>
            <a:off x="8996477"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Mobilisation de la diaspora</a:t>
            </a:r>
            <a:endParaRPr lang="en-US" sz="1500" dirty="0"/>
          </a:p>
        </p:txBody>
      </p:sp>
      <p:sp>
        <p:nvSpPr>
          <p:cNvPr id="18" name="Text 16"/>
          <p:cNvSpPr txBox="1"/>
          <p:nvPr/>
        </p:nvSpPr>
        <p:spPr>
          <a:xfrm>
            <a:off x="8402117"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Relier les compétences, les moyens et l’attention de la diaspora aux besoins du pays bedjond.</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Répertoire des compétences</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Nous soutenir</a:t>
            </a:r>
            <a:endParaRPr lang="en-US" sz="1250" dirty="0"/>
          </a:p>
          <a:p>
            <a:pPr marL="177800" indent="-177800">
              <a:lnSpc>
                <a:spcPct val="110000"/>
              </a:lnSpc>
              <a:spcAft>
                <a:spcPts val="600"/>
              </a:spcAft>
              <a:buSzPct val="100000"/>
              <a:buChar char="•"/>
            </a:pPr>
            <a:r>
              <a:rPr lang="en-US" sz="1250" dirty="0">
                <a:solidFill>
                  <a:srgbClr val="10241E"/>
                </a:solidFill>
                <a:latin typeface="DM Sans" pitchFamily="34" charset="0"/>
                <a:ea typeface="DM Sans" pitchFamily="34" charset="-122"/>
                <a:cs typeface="DM Sans" pitchFamily="34" charset="-120"/>
              </a:rPr>
              <a:t>Thématique Diaspora et partenariats</a:t>
            </a:r>
            <a:endParaRPr lang="en-US" sz="1250" dirty="0"/>
          </a:p>
        </p:txBody>
      </p:sp>
      <p:sp>
        <p:nvSpPr>
          <p:cNvPr id="19" name="Text 1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0" name="Text 18"/>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5 / 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Les six programmes du projet</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SIX PROGRAMMES</a:t>
            </a:r>
            <a:endParaRPr lang="en-US" sz="900" dirty="0"/>
          </a:p>
        </p:txBody>
      </p:sp>
      <p:sp>
        <p:nvSpPr>
          <p:cNvPr id="4" name="Shape 2"/>
          <p:cNvSpPr/>
          <p:nvPr/>
        </p:nvSpPr>
        <p:spPr>
          <a:xfrm>
            <a:off x="548640" y="1737360"/>
            <a:ext cx="3515258" cy="4206240"/>
          </a:xfrm>
          <a:prstGeom prst="roundRect">
            <a:avLst>
              <a:gd name="adj" fmla="val 4162"/>
            </a:avLst>
          </a:prstGeom>
          <a:solidFill>
            <a:srgbClr val="F4F6F1"/>
          </a:solidFill>
          <a:ln w="9525">
            <a:solidFill>
              <a:srgbClr val="D5DDD6"/>
            </a:solidFill>
            <a:prstDash val="solid"/>
          </a:ln>
        </p:spPr>
      </p:sp>
      <p:sp>
        <p:nvSpPr>
          <p:cNvPr id="5" name="Shape 3"/>
          <p:cNvSpPr/>
          <p:nvPr/>
        </p:nvSpPr>
        <p:spPr>
          <a:xfrm>
            <a:off x="822960" y="2011680"/>
            <a:ext cx="457200" cy="457200"/>
          </a:xfrm>
          <a:prstGeom prst="ellipse">
            <a:avLst/>
          </a:prstGeom>
          <a:solidFill>
            <a:srgbClr val="B6CF45"/>
          </a:solidFill>
          <a:ln w="12700">
            <a:solidFill>
              <a:srgbClr val="B6CF45"/>
            </a:solidFill>
            <a:prstDash val="solid"/>
          </a:ln>
        </p:spPr>
      </p:sp>
      <p:sp>
        <p:nvSpPr>
          <p:cNvPr id="6" name="Text 4"/>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01</a:t>
            </a:r>
            <a:endParaRPr lang="en-US" sz="1200" dirty="0"/>
          </a:p>
        </p:txBody>
      </p:sp>
      <p:sp>
        <p:nvSpPr>
          <p:cNvPr id="7" name="Text 5"/>
          <p:cNvSpPr txBox="1"/>
          <p:nvPr/>
        </p:nvSpPr>
        <p:spPr>
          <a:xfrm>
            <a:off x="1417320"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Mémoire et Patrimoine</a:t>
            </a:r>
            <a:endParaRPr lang="en-US" sz="1500" dirty="0"/>
          </a:p>
        </p:txBody>
      </p:sp>
      <p:sp>
        <p:nvSpPr>
          <p:cNvPr id="8" name="Text 6"/>
          <p:cNvSpPr txBox="1"/>
          <p:nvPr/>
        </p:nvSpPr>
        <p:spPr>
          <a:xfrm>
            <a:off x="822960"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Écrire l’histoire des peuples bedjonds, cartographier le patrimoine, garder les livres et les voix.</a:t>
            </a:r>
            <a:endParaRPr lang="en-US" sz="1250" dirty="0"/>
          </a:p>
        </p:txBody>
      </p:sp>
      <p:sp>
        <p:nvSpPr>
          <p:cNvPr id="9" name="Shape 7"/>
          <p:cNvSpPr/>
          <p:nvPr/>
        </p:nvSpPr>
        <p:spPr>
          <a:xfrm>
            <a:off x="4338218" y="1737360"/>
            <a:ext cx="3515258" cy="4206240"/>
          </a:xfrm>
          <a:prstGeom prst="roundRect">
            <a:avLst>
              <a:gd name="adj" fmla="val 4162"/>
            </a:avLst>
          </a:prstGeom>
          <a:solidFill>
            <a:srgbClr val="F4F6F1"/>
          </a:solidFill>
          <a:ln w="9525">
            <a:solidFill>
              <a:srgbClr val="D5DDD6"/>
            </a:solidFill>
            <a:prstDash val="solid"/>
          </a:ln>
        </p:spPr>
      </p:sp>
      <p:sp>
        <p:nvSpPr>
          <p:cNvPr id="10" name="Shape 8"/>
          <p:cNvSpPr/>
          <p:nvPr/>
        </p:nvSpPr>
        <p:spPr>
          <a:xfrm>
            <a:off x="4612538" y="2011680"/>
            <a:ext cx="457200" cy="457200"/>
          </a:xfrm>
          <a:prstGeom prst="ellipse">
            <a:avLst/>
          </a:prstGeom>
          <a:solidFill>
            <a:srgbClr val="B6CF45"/>
          </a:solidFill>
          <a:ln w="12700">
            <a:solidFill>
              <a:srgbClr val="B6CF45"/>
            </a:solidFill>
            <a:prstDash val="solid"/>
          </a:ln>
        </p:spPr>
      </p:sp>
      <p:sp>
        <p:nvSpPr>
          <p:cNvPr id="11" name="Text 9"/>
          <p:cNvSpPr txBox="1"/>
          <p:nvPr/>
        </p:nvSpPr>
        <p:spPr>
          <a:xfrm>
            <a:off x="4612538"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02</a:t>
            </a:r>
            <a:endParaRPr lang="en-US" sz="1200" dirty="0"/>
          </a:p>
        </p:txBody>
      </p:sp>
      <p:sp>
        <p:nvSpPr>
          <p:cNvPr id="12" name="Text 10"/>
          <p:cNvSpPr txBox="1"/>
          <p:nvPr/>
        </p:nvSpPr>
        <p:spPr>
          <a:xfrm>
            <a:off x="5206898"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Recherche</a:t>
            </a:r>
            <a:endParaRPr lang="en-US" sz="1500" dirty="0"/>
          </a:p>
        </p:txBody>
      </p:sp>
      <p:sp>
        <p:nvSpPr>
          <p:cNvPr id="13" name="Text 11"/>
          <p:cNvSpPr txBox="1"/>
          <p:nvPr/>
        </p:nvSpPr>
        <p:spPr>
          <a:xfrm>
            <a:off x="4612538"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Un centre de documentation, une base scientifique, des publications datées et sourcées.</a:t>
            </a:r>
            <a:endParaRPr lang="en-US" sz="1250" dirty="0"/>
          </a:p>
        </p:txBody>
      </p:sp>
      <p:sp>
        <p:nvSpPr>
          <p:cNvPr id="14" name="Shape 12"/>
          <p:cNvSpPr/>
          <p:nvPr/>
        </p:nvSpPr>
        <p:spPr>
          <a:xfrm>
            <a:off x="8127797" y="1737360"/>
            <a:ext cx="3515258" cy="4206240"/>
          </a:xfrm>
          <a:prstGeom prst="roundRect">
            <a:avLst>
              <a:gd name="adj" fmla="val 4162"/>
            </a:avLst>
          </a:prstGeom>
          <a:solidFill>
            <a:srgbClr val="F4F6F1"/>
          </a:solidFill>
          <a:ln w="9525">
            <a:solidFill>
              <a:srgbClr val="D5DDD6"/>
            </a:solidFill>
            <a:prstDash val="solid"/>
          </a:ln>
        </p:spPr>
      </p:sp>
      <p:sp>
        <p:nvSpPr>
          <p:cNvPr id="15" name="Shape 13"/>
          <p:cNvSpPr/>
          <p:nvPr/>
        </p:nvSpPr>
        <p:spPr>
          <a:xfrm>
            <a:off x="8402117" y="2011680"/>
            <a:ext cx="457200" cy="457200"/>
          </a:xfrm>
          <a:prstGeom prst="ellipse">
            <a:avLst/>
          </a:prstGeom>
          <a:solidFill>
            <a:srgbClr val="B6CF45"/>
          </a:solidFill>
          <a:ln w="12700">
            <a:solidFill>
              <a:srgbClr val="B6CF45"/>
            </a:solidFill>
            <a:prstDash val="solid"/>
          </a:ln>
        </p:spPr>
      </p:sp>
      <p:sp>
        <p:nvSpPr>
          <p:cNvPr id="16" name="Text 14"/>
          <p:cNvSpPr txBox="1"/>
          <p:nvPr/>
        </p:nvSpPr>
        <p:spPr>
          <a:xfrm>
            <a:off x="8402117"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03</a:t>
            </a:r>
            <a:endParaRPr lang="en-US" sz="1200" dirty="0"/>
          </a:p>
        </p:txBody>
      </p:sp>
      <p:sp>
        <p:nvSpPr>
          <p:cNvPr id="17" name="Text 15"/>
          <p:cNvSpPr txBox="1"/>
          <p:nvPr/>
        </p:nvSpPr>
        <p:spPr>
          <a:xfrm>
            <a:off x="8996477"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Développement territorial</a:t>
            </a:r>
            <a:endParaRPr lang="en-US" sz="1500" dirty="0"/>
          </a:p>
        </p:txBody>
      </p:sp>
      <p:sp>
        <p:nvSpPr>
          <p:cNvPr id="18" name="Text 16"/>
          <p:cNvSpPr txBox="1"/>
          <p:nvPr/>
        </p:nvSpPr>
        <p:spPr>
          <a:xfrm>
            <a:off x="8402117"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Un observatoire, des données, des diagnostics : savoir ce qui manque, où, et suivre ce qui change.</a:t>
            </a:r>
            <a:endParaRPr lang="en-US" sz="1250" dirty="0"/>
          </a:p>
        </p:txBody>
      </p:sp>
      <p:sp>
        <p:nvSpPr>
          <p:cNvPr id="19" name="Text 1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0" name="Text 18"/>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6 / 26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Les six programmes du projet</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SIX PROGRAMMES (SUITE)</a:t>
            </a:r>
            <a:endParaRPr lang="en-US" sz="900" dirty="0"/>
          </a:p>
        </p:txBody>
      </p:sp>
      <p:sp>
        <p:nvSpPr>
          <p:cNvPr id="4" name="Shape 2"/>
          <p:cNvSpPr/>
          <p:nvPr/>
        </p:nvSpPr>
        <p:spPr>
          <a:xfrm>
            <a:off x="548640" y="1737360"/>
            <a:ext cx="3515258" cy="4206240"/>
          </a:xfrm>
          <a:prstGeom prst="roundRect">
            <a:avLst>
              <a:gd name="adj" fmla="val 4162"/>
            </a:avLst>
          </a:prstGeom>
          <a:solidFill>
            <a:srgbClr val="F4F6F1"/>
          </a:solidFill>
          <a:ln w="9525">
            <a:solidFill>
              <a:srgbClr val="D5DDD6"/>
            </a:solidFill>
            <a:prstDash val="solid"/>
          </a:ln>
        </p:spPr>
      </p:sp>
      <p:sp>
        <p:nvSpPr>
          <p:cNvPr id="5" name="Shape 3"/>
          <p:cNvSpPr/>
          <p:nvPr/>
        </p:nvSpPr>
        <p:spPr>
          <a:xfrm>
            <a:off x="822960" y="2011680"/>
            <a:ext cx="457200" cy="457200"/>
          </a:xfrm>
          <a:prstGeom prst="ellipse">
            <a:avLst/>
          </a:prstGeom>
          <a:solidFill>
            <a:srgbClr val="B6CF45"/>
          </a:solidFill>
          <a:ln w="12700">
            <a:solidFill>
              <a:srgbClr val="B6CF45"/>
            </a:solidFill>
            <a:prstDash val="solid"/>
          </a:ln>
        </p:spPr>
      </p:sp>
      <p:sp>
        <p:nvSpPr>
          <p:cNvPr id="6" name="Text 4"/>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04</a:t>
            </a:r>
            <a:endParaRPr lang="en-US" sz="1200" dirty="0"/>
          </a:p>
        </p:txBody>
      </p:sp>
      <p:sp>
        <p:nvSpPr>
          <p:cNvPr id="7" name="Text 5"/>
          <p:cNvSpPr txBox="1"/>
          <p:nvPr/>
        </p:nvSpPr>
        <p:spPr>
          <a:xfrm>
            <a:off x="1417320"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Jeunesse et Innovation</a:t>
            </a:r>
            <a:endParaRPr lang="en-US" sz="1500" dirty="0"/>
          </a:p>
        </p:txBody>
      </p:sp>
      <p:sp>
        <p:nvSpPr>
          <p:cNvPr id="8" name="Text 6"/>
          <p:cNvSpPr txBox="1"/>
          <p:nvPr/>
        </p:nvSpPr>
        <p:spPr>
          <a:xfrm>
            <a:off x="822960"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Une académie numérique, l’intelligence artificielle, des compétences : préparer ceux qui feront Bédjondo.</a:t>
            </a:r>
            <a:endParaRPr lang="en-US" sz="1250" dirty="0"/>
          </a:p>
        </p:txBody>
      </p:sp>
      <p:sp>
        <p:nvSpPr>
          <p:cNvPr id="9" name="Shape 7"/>
          <p:cNvSpPr/>
          <p:nvPr/>
        </p:nvSpPr>
        <p:spPr>
          <a:xfrm>
            <a:off x="4338218" y="1737360"/>
            <a:ext cx="3515258" cy="4206240"/>
          </a:xfrm>
          <a:prstGeom prst="roundRect">
            <a:avLst>
              <a:gd name="adj" fmla="val 4162"/>
            </a:avLst>
          </a:prstGeom>
          <a:solidFill>
            <a:srgbClr val="F4F6F1"/>
          </a:solidFill>
          <a:ln w="9525">
            <a:solidFill>
              <a:srgbClr val="D5DDD6"/>
            </a:solidFill>
            <a:prstDash val="solid"/>
          </a:ln>
        </p:spPr>
      </p:sp>
      <p:sp>
        <p:nvSpPr>
          <p:cNvPr id="10" name="Shape 8"/>
          <p:cNvSpPr/>
          <p:nvPr/>
        </p:nvSpPr>
        <p:spPr>
          <a:xfrm>
            <a:off x="4612538" y="2011680"/>
            <a:ext cx="457200" cy="457200"/>
          </a:xfrm>
          <a:prstGeom prst="ellipse">
            <a:avLst/>
          </a:prstGeom>
          <a:solidFill>
            <a:srgbClr val="B6CF45"/>
          </a:solidFill>
          <a:ln w="12700">
            <a:solidFill>
              <a:srgbClr val="B6CF45"/>
            </a:solidFill>
            <a:prstDash val="solid"/>
          </a:ln>
        </p:spPr>
      </p:sp>
      <p:sp>
        <p:nvSpPr>
          <p:cNvPr id="11" name="Text 9"/>
          <p:cNvSpPr txBox="1"/>
          <p:nvPr/>
        </p:nvSpPr>
        <p:spPr>
          <a:xfrm>
            <a:off x="4612538"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05</a:t>
            </a:r>
            <a:endParaRPr lang="en-US" sz="1200" dirty="0"/>
          </a:p>
        </p:txBody>
      </p:sp>
      <p:sp>
        <p:nvSpPr>
          <p:cNvPr id="12" name="Text 10"/>
          <p:cNvSpPr txBox="1"/>
          <p:nvPr/>
        </p:nvSpPr>
        <p:spPr>
          <a:xfrm>
            <a:off x="5206898"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Diaspora</a:t>
            </a:r>
            <a:endParaRPr lang="en-US" sz="1500" dirty="0"/>
          </a:p>
        </p:txBody>
      </p:sp>
      <p:sp>
        <p:nvSpPr>
          <p:cNvPr id="13" name="Text 11"/>
          <p:cNvSpPr txBox="1"/>
          <p:nvPr/>
        </p:nvSpPr>
        <p:spPr>
          <a:xfrm>
            <a:off x="4612538"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Des experts, des investissements, du mentorat : la diaspora comme partie prenante, pas comme guichet.</a:t>
            </a:r>
            <a:endParaRPr lang="en-US" sz="1250" dirty="0"/>
          </a:p>
        </p:txBody>
      </p:sp>
      <p:sp>
        <p:nvSpPr>
          <p:cNvPr id="14" name="Shape 12"/>
          <p:cNvSpPr/>
          <p:nvPr/>
        </p:nvSpPr>
        <p:spPr>
          <a:xfrm>
            <a:off x="8127797" y="1737360"/>
            <a:ext cx="3515258" cy="4206240"/>
          </a:xfrm>
          <a:prstGeom prst="roundRect">
            <a:avLst>
              <a:gd name="adj" fmla="val 4162"/>
            </a:avLst>
          </a:prstGeom>
          <a:solidFill>
            <a:srgbClr val="F4F6F1"/>
          </a:solidFill>
          <a:ln w="9525">
            <a:solidFill>
              <a:srgbClr val="D5DDD6"/>
            </a:solidFill>
            <a:prstDash val="solid"/>
          </a:ln>
        </p:spPr>
      </p:sp>
      <p:sp>
        <p:nvSpPr>
          <p:cNvPr id="15" name="Shape 13"/>
          <p:cNvSpPr/>
          <p:nvPr/>
        </p:nvSpPr>
        <p:spPr>
          <a:xfrm>
            <a:off x="8402117" y="2011680"/>
            <a:ext cx="457200" cy="457200"/>
          </a:xfrm>
          <a:prstGeom prst="ellipse">
            <a:avLst/>
          </a:prstGeom>
          <a:solidFill>
            <a:srgbClr val="B6CF45"/>
          </a:solidFill>
          <a:ln w="12700">
            <a:solidFill>
              <a:srgbClr val="B6CF45"/>
            </a:solidFill>
            <a:prstDash val="solid"/>
          </a:ln>
        </p:spPr>
      </p:sp>
      <p:sp>
        <p:nvSpPr>
          <p:cNvPr id="16" name="Text 14"/>
          <p:cNvSpPr txBox="1"/>
          <p:nvPr/>
        </p:nvSpPr>
        <p:spPr>
          <a:xfrm>
            <a:off x="8402117"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06</a:t>
            </a:r>
            <a:endParaRPr lang="en-US" sz="1200" dirty="0"/>
          </a:p>
        </p:txBody>
      </p:sp>
      <p:sp>
        <p:nvSpPr>
          <p:cNvPr id="17" name="Text 15"/>
          <p:cNvSpPr txBox="1"/>
          <p:nvPr/>
        </p:nvSpPr>
        <p:spPr>
          <a:xfrm>
            <a:off x="8996477" y="198424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Économie sociale et revenus</a:t>
            </a:r>
            <a:endParaRPr lang="en-US" sz="1500" dirty="0"/>
          </a:p>
        </p:txBody>
      </p:sp>
      <p:sp>
        <p:nvSpPr>
          <p:cNvPr id="18" name="Text 16"/>
          <p:cNvSpPr txBox="1"/>
          <p:nvPr/>
        </p:nvSpPr>
        <p:spPr>
          <a:xfrm>
            <a:off x="8402117" y="2697480"/>
            <a:ext cx="2966618"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1250" dirty="0">
                <a:solidFill>
                  <a:srgbClr val="10241E"/>
                </a:solidFill>
                <a:latin typeface="DM Sans" pitchFamily="34" charset="0"/>
                <a:ea typeface="DM Sans" pitchFamily="34" charset="-122"/>
                <a:cs typeface="DM Sans" pitchFamily="34" charset="-120"/>
              </a:rPr>
              <a:t>Des activités qui rapportent, pour financer celles qui ne rapportent pas : le développement et le bien-être.</a:t>
            </a:r>
            <a:endParaRPr lang="en-US" sz="1250" dirty="0"/>
          </a:p>
        </p:txBody>
      </p:sp>
      <p:sp>
        <p:nvSpPr>
          <p:cNvPr id="19" name="Text 17"/>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0" name="Text 18"/>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7 / 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280160"/>
            <a:ext cx="3657600" cy="1463040"/>
          </a:xfrm>
          <a:prstGeom prst="rect">
            <a:avLst/>
          </a:prstGeom>
          <a:noFill/>
          <a:ln/>
        </p:spPr>
        <p:txBody>
          <a:bodyPr wrap="square" lIns="0" tIns="0" rIns="0" bIns="0" rtlCol="0" anchor="ctr"/>
          <a:lstStyle/>
          <a:p>
            <a:pPr indent="0" marL="0">
              <a:buNone/>
            </a:pPr>
            <a:r>
              <a:rPr lang="en-US" sz="9600" dirty="0">
                <a:solidFill>
                  <a:srgbClr val="F2C94C"/>
                </a:solidFill>
                <a:latin typeface="Playfair Display" pitchFamily="34" charset="0"/>
                <a:ea typeface="Playfair Display" pitchFamily="34" charset="-122"/>
                <a:cs typeface="Playfair Display" pitchFamily="34" charset="-120"/>
              </a:rPr>
              <a:t>01</a:t>
            </a:r>
            <a:endParaRPr lang="en-US" sz="9600" dirty="0"/>
          </a:p>
        </p:txBody>
      </p:sp>
      <p:sp>
        <p:nvSpPr>
          <p:cNvPr id="3" name="Text 1"/>
          <p:cNvSpPr txBox="1"/>
          <p:nvPr/>
        </p:nvSpPr>
        <p:spPr>
          <a:xfrm>
            <a:off x="548640" y="2926080"/>
            <a:ext cx="9144000" cy="128016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Playfair Display" pitchFamily="34" charset="0"/>
                <a:ea typeface="Playfair Display" pitchFamily="34" charset="-122"/>
                <a:cs typeface="Playfair Display" pitchFamily="34" charset="-120"/>
              </a:rPr>
              <a:t>Mémoire et Patrimoine</a:t>
            </a:r>
            <a:endParaRPr lang="en-US" sz="4000" dirty="0"/>
          </a:p>
        </p:txBody>
      </p:sp>
      <p:sp>
        <p:nvSpPr>
          <p:cNvPr id="4" name="Text 2"/>
          <p:cNvSpPr txBox="1"/>
          <p:nvPr/>
        </p:nvSpPr>
        <p:spPr>
          <a:xfrm>
            <a:off x="548640" y="4297680"/>
            <a:ext cx="8686800" cy="1188720"/>
          </a:xfrm>
          <a:prstGeom prst="rect">
            <a:avLst/>
          </a:prstGeom>
          <a:noFill/>
          <a:ln/>
        </p:spPr>
        <p:txBody>
          <a:bodyPr wrap="square" lIns="0" tIns="0" rIns="0" bIns="0" rtlCol="0" anchor="ctr">
            <a:normAutofit/>
          </a:bodyPr>
          <a:lstStyle/>
          <a:p>
            <a:pPr indent="0" marL="0">
              <a:buNone/>
            </a:pPr>
            <a:r>
              <a:rPr lang="en-US" sz="1600" dirty="0">
                <a:solidFill>
                  <a:srgbClr val="DCE6DC"/>
                </a:solidFill>
                <a:latin typeface="DM Sans" pitchFamily="34" charset="0"/>
                <a:ea typeface="DM Sans" pitchFamily="34" charset="-122"/>
                <a:cs typeface="DM Sans" pitchFamily="34" charset="-120"/>
              </a:rPr>
              <a:t>Écrire l’histoire des peuples bedjonds, cartographier le patrimoine, garder les livres et les voix.</a:t>
            </a:r>
            <a:endParaRPr lang="en-US" sz="1600" dirty="0"/>
          </a:p>
        </p:txBody>
      </p:sp>
      <p:sp>
        <p:nvSpPr>
          <p:cNvPr id="5"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AAB9B0"/>
                </a:solidFill>
                <a:latin typeface="DM Sans" pitchFamily="34" charset="0"/>
                <a:ea typeface="DM Sans" pitchFamily="34" charset="-122"/>
                <a:cs typeface="DM Sans" pitchFamily="34" charset="-120"/>
              </a:rPr>
              <a:t>ODEB LONODJI · lonodji.org/odeb</a:t>
            </a:r>
            <a:endParaRPr lang="en-US" sz="900" dirty="0"/>
          </a:p>
        </p:txBody>
      </p:sp>
      <p:sp>
        <p:nvSpPr>
          <p:cNvPr id="6" name="Text 4"/>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AAB9B0"/>
                </a:solidFill>
                <a:latin typeface="DM Sans" pitchFamily="34" charset="0"/>
                <a:ea typeface="DM Sans" pitchFamily="34" charset="-122"/>
                <a:cs typeface="DM Sans" pitchFamily="34" charset="-120"/>
              </a:rPr>
              <a:t>8 / 26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Mémoire et Patrimoine</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PROGRAMME 01 · TROIS AXES</a:t>
            </a:r>
            <a:endParaRPr lang="en-US" sz="900" dirty="0"/>
          </a:p>
        </p:txBody>
      </p:sp>
      <p:sp>
        <p:nvSpPr>
          <p:cNvPr id="4" name="Text 2"/>
          <p:cNvSpPr txBox="1"/>
          <p:nvPr/>
        </p:nvSpPr>
        <p:spPr>
          <a:xfrm>
            <a:off x="548640" y="1508760"/>
            <a:ext cx="10881360" cy="548640"/>
          </a:xfrm>
          <a:prstGeom prst="rect">
            <a:avLst/>
          </a:prstGeom>
          <a:noFill/>
          <a:ln/>
        </p:spPr>
        <p:txBody>
          <a:bodyPr wrap="square" lIns="0" tIns="0" rIns="0" bIns="0" rtlCol="0" anchor="t">
            <a:normAutofit/>
          </a:bodyPr>
          <a:lstStyle/>
          <a:p>
            <a:pPr indent="0" marL="0">
              <a:buNone/>
            </a:pPr>
            <a:r>
              <a:rPr lang="en-US" sz="1250" dirty="0">
                <a:solidFill>
                  <a:srgbClr val="526159"/>
                </a:solidFill>
                <a:latin typeface="DM Sans" pitchFamily="34" charset="0"/>
                <a:ea typeface="DM Sans" pitchFamily="34" charset="-122"/>
                <a:cs typeface="DM Sans" pitchFamily="34" charset="-120"/>
              </a:rPr>
              <a:t>Le programme rassemble ce qui fait la mémoire du pays bedjond — son histoire, ses lieux, ses lignées, ses livres, sa langue — et le rend accessible à ceux qui vivent à Bédjondo comme à la diaspora. Il prolonge le pilier I de l’association et les recommandations 2027-2030 : centre de documentation, atlas patrimonial, bibliothèque orale.</a:t>
            </a:r>
            <a:endParaRPr lang="en-US" sz="1250" dirty="0"/>
          </a:p>
        </p:txBody>
      </p:sp>
      <p:sp>
        <p:nvSpPr>
          <p:cNvPr id="5" name="Shape 3"/>
          <p:cNvSpPr/>
          <p:nvPr/>
        </p:nvSpPr>
        <p:spPr>
          <a:xfrm>
            <a:off x="548640" y="2148840"/>
            <a:ext cx="3515258" cy="3794760"/>
          </a:xfrm>
          <a:prstGeom prst="roundRect">
            <a:avLst>
              <a:gd name="adj" fmla="val 4162"/>
            </a:avLst>
          </a:prstGeom>
          <a:solidFill>
            <a:srgbClr val="F4F6F1"/>
          </a:solidFill>
          <a:ln w="9525">
            <a:solidFill>
              <a:srgbClr val="D5DDD6"/>
            </a:solidFill>
            <a:prstDash val="solid"/>
          </a:ln>
        </p:spPr>
      </p:sp>
      <p:sp>
        <p:nvSpPr>
          <p:cNvPr id="6" name="Shape 4"/>
          <p:cNvSpPr/>
          <p:nvPr/>
        </p:nvSpPr>
        <p:spPr>
          <a:xfrm>
            <a:off x="822960" y="2423160"/>
            <a:ext cx="457200" cy="457200"/>
          </a:xfrm>
          <a:prstGeom prst="ellipse">
            <a:avLst/>
          </a:prstGeom>
          <a:solidFill>
            <a:srgbClr val="B6CF45"/>
          </a:solidFill>
          <a:ln w="12700">
            <a:solidFill>
              <a:srgbClr val="B6CF45"/>
            </a:solidFill>
            <a:prstDash val="solid"/>
          </a:ln>
        </p:spPr>
      </p:sp>
      <p:sp>
        <p:nvSpPr>
          <p:cNvPr id="7" name="Text 5"/>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1.1</a:t>
            </a:r>
            <a:endParaRPr lang="en-US" sz="1200" dirty="0"/>
          </a:p>
        </p:txBody>
      </p:sp>
      <p:sp>
        <p:nvSpPr>
          <p:cNvPr id="8" name="Text 6"/>
          <p:cNvSpPr txBox="1"/>
          <p:nvPr/>
        </p:nvSpPr>
        <p:spPr>
          <a:xfrm>
            <a:off x="1417320"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Histoire des peuples bedjonds</a:t>
            </a:r>
            <a:endParaRPr lang="en-US" sz="1500" dirty="0"/>
          </a:p>
        </p:txBody>
      </p:sp>
      <p:sp>
        <p:nvSpPr>
          <p:cNvPr id="9" name="Text 7"/>
          <p:cNvSpPr txBox="1"/>
          <p:nvPr/>
        </p:nvSpPr>
        <p:spPr>
          <a:xfrm>
            <a:off x="822960"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Rassembler ce qui est établi sur l’origine des Bedjond, la lignée des chefs de canton, les forums fondateurs, et le publier avec ses sources.</a:t>
            </a:r>
            <a:endParaRPr lang="en-US" sz="1200" dirty="0"/>
          </a:p>
        </p:txBody>
      </p:sp>
      <p:sp>
        <p:nvSpPr>
          <p:cNvPr id="10" name="Shape 8"/>
          <p:cNvSpPr/>
          <p:nvPr/>
        </p:nvSpPr>
        <p:spPr>
          <a:xfrm>
            <a:off x="4338218" y="2148840"/>
            <a:ext cx="3515258" cy="3794760"/>
          </a:xfrm>
          <a:prstGeom prst="roundRect">
            <a:avLst>
              <a:gd name="adj" fmla="val 4162"/>
            </a:avLst>
          </a:prstGeom>
          <a:solidFill>
            <a:srgbClr val="F4F6F1"/>
          </a:solidFill>
          <a:ln w="9525">
            <a:solidFill>
              <a:srgbClr val="D5DDD6"/>
            </a:solidFill>
            <a:prstDash val="solid"/>
          </a:ln>
        </p:spPr>
      </p:sp>
      <p:sp>
        <p:nvSpPr>
          <p:cNvPr id="11" name="Shape 9"/>
          <p:cNvSpPr/>
          <p:nvPr/>
        </p:nvSpPr>
        <p:spPr>
          <a:xfrm>
            <a:off x="4612538" y="2423160"/>
            <a:ext cx="457200" cy="457200"/>
          </a:xfrm>
          <a:prstGeom prst="ellipse">
            <a:avLst/>
          </a:prstGeom>
          <a:solidFill>
            <a:srgbClr val="B6CF45"/>
          </a:solidFill>
          <a:ln w="12700">
            <a:solidFill>
              <a:srgbClr val="B6CF45"/>
            </a:solidFill>
            <a:prstDash val="solid"/>
          </a:ln>
        </p:spPr>
      </p:sp>
      <p:sp>
        <p:nvSpPr>
          <p:cNvPr id="12" name="Text 10"/>
          <p:cNvSpPr txBox="1"/>
          <p:nvPr/>
        </p:nvSpPr>
        <p:spPr>
          <a:xfrm>
            <a:off x="4612538"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1.2</a:t>
            </a:r>
            <a:endParaRPr lang="en-US" sz="1200" dirty="0"/>
          </a:p>
        </p:txBody>
      </p:sp>
      <p:sp>
        <p:nvSpPr>
          <p:cNvPr id="13" name="Text 11"/>
          <p:cNvSpPr txBox="1"/>
          <p:nvPr/>
        </p:nvSpPr>
        <p:spPr>
          <a:xfrm>
            <a:off x="5206898"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Atlas patrimonial</a:t>
            </a:r>
            <a:endParaRPr lang="en-US" sz="1500" dirty="0"/>
          </a:p>
        </p:txBody>
      </p:sp>
      <p:sp>
        <p:nvSpPr>
          <p:cNvPr id="14" name="Text 12"/>
          <p:cNvSpPr txBox="1"/>
          <p:nvPr/>
        </p:nvSpPr>
        <p:spPr>
          <a:xfrm>
            <a:off x="4612538"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Une carte du pays bedjond qui ne montre pas seulement les villages et les forages, mais ce qui fait lieu : sites historiques, généalogies, toponymes.</a:t>
            </a:r>
            <a:endParaRPr lang="en-US" sz="1200" dirty="0"/>
          </a:p>
        </p:txBody>
      </p:sp>
      <p:sp>
        <p:nvSpPr>
          <p:cNvPr id="15" name="Shape 13"/>
          <p:cNvSpPr/>
          <p:nvPr/>
        </p:nvSpPr>
        <p:spPr>
          <a:xfrm>
            <a:off x="8127797" y="2148840"/>
            <a:ext cx="3515258" cy="3794760"/>
          </a:xfrm>
          <a:prstGeom prst="roundRect">
            <a:avLst>
              <a:gd name="adj" fmla="val 4162"/>
            </a:avLst>
          </a:prstGeom>
          <a:solidFill>
            <a:srgbClr val="F4F6F1"/>
          </a:solidFill>
          <a:ln w="9525">
            <a:solidFill>
              <a:srgbClr val="D5DDD6"/>
            </a:solidFill>
            <a:prstDash val="solid"/>
          </a:ln>
        </p:spPr>
      </p:sp>
      <p:sp>
        <p:nvSpPr>
          <p:cNvPr id="16" name="Shape 14"/>
          <p:cNvSpPr/>
          <p:nvPr/>
        </p:nvSpPr>
        <p:spPr>
          <a:xfrm>
            <a:off x="8402117" y="2423160"/>
            <a:ext cx="457200" cy="457200"/>
          </a:xfrm>
          <a:prstGeom prst="ellipse">
            <a:avLst/>
          </a:prstGeom>
          <a:solidFill>
            <a:srgbClr val="B6CF45"/>
          </a:solidFill>
          <a:ln w="12700">
            <a:solidFill>
              <a:srgbClr val="B6CF45"/>
            </a:solidFill>
            <a:prstDash val="solid"/>
          </a:ln>
        </p:spPr>
      </p:sp>
      <p:sp>
        <p:nvSpPr>
          <p:cNvPr id="17" name="Text 15"/>
          <p:cNvSpPr txBox="1"/>
          <p:nvPr/>
        </p:nvSpPr>
        <p:spPr>
          <a:xfrm>
            <a:off x="8402117"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1.3</a:t>
            </a:r>
            <a:endParaRPr lang="en-US" sz="1200" dirty="0"/>
          </a:p>
        </p:txBody>
      </p:sp>
      <p:sp>
        <p:nvSpPr>
          <p:cNvPr id="18" name="Text 16"/>
          <p:cNvSpPr txBox="1"/>
          <p:nvPr/>
        </p:nvSpPr>
        <p:spPr>
          <a:xfrm>
            <a:off x="8996477"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Bibliothèque numérique</a:t>
            </a:r>
            <a:endParaRPr lang="en-US" sz="1500" dirty="0"/>
          </a:p>
        </p:txBody>
      </p:sp>
      <p:sp>
        <p:nvSpPr>
          <p:cNvPr id="19" name="Text 17"/>
          <p:cNvSpPr txBox="1"/>
          <p:nvPr/>
        </p:nvSpPr>
        <p:spPr>
          <a:xfrm>
            <a:off x="8402117"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Thèses, articles, ouvrages, rapports et archives sur le pays bedjond, les Sara et le nangnda, avec les chercheurs qui les ont signés.</a:t>
            </a:r>
            <a:endParaRPr lang="en-US" sz="1200" dirty="0"/>
          </a:p>
        </p:txBody>
      </p:sp>
      <p:sp>
        <p:nvSpPr>
          <p:cNvPr id="20" name="Text 1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1" name="Text 19"/>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9 / 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280160"/>
            <a:ext cx="3657600" cy="1463040"/>
          </a:xfrm>
          <a:prstGeom prst="rect">
            <a:avLst/>
          </a:prstGeom>
          <a:noFill/>
          <a:ln/>
        </p:spPr>
        <p:txBody>
          <a:bodyPr wrap="square" lIns="0" tIns="0" rIns="0" bIns="0" rtlCol="0" anchor="ctr"/>
          <a:lstStyle/>
          <a:p>
            <a:pPr indent="0" marL="0">
              <a:buNone/>
            </a:pPr>
            <a:r>
              <a:rPr lang="en-US" sz="9600" dirty="0">
                <a:solidFill>
                  <a:srgbClr val="F2C94C"/>
                </a:solidFill>
                <a:latin typeface="Playfair Display" pitchFamily="34" charset="0"/>
                <a:ea typeface="Playfair Display" pitchFamily="34" charset="-122"/>
                <a:cs typeface="Playfair Display" pitchFamily="34" charset="-120"/>
              </a:rPr>
              <a:t>02</a:t>
            </a:r>
            <a:endParaRPr lang="en-US" sz="9600" dirty="0"/>
          </a:p>
        </p:txBody>
      </p:sp>
      <p:sp>
        <p:nvSpPr>
          <p:cNvPr id="3" name="Text 1"/>
          <p:cNvSpPr txBox="1"/>
          <p:nvPr/>
        </p:nvSpPr>
        <p:spPr>
          <a:xfrm>
            <a:off x="548640" y="2926080"/>
            <a:ext cx="9144000" cy="128016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Playfair Display" pitchFamily="34" charset="0"/>
                <a:ea typeface="Playfair Display" pitchFamily="34" charset="-122"/>
                <a:cs typeface="Playfair Display" pitchFamily="34" charset="-120"/>
              </a:rPr>
              <a:t>Recherche</a:t>
            </a:r>
            <a:endParaRPr lang="en-US" sz="4000" dirty="0"/>
          </a:p>
        </p:txBody>
      </p:sp>
      <p:sp>
        <p:nvSpPr>
          <p:cNvPr id="4" name="Text 2"/>
          <p:cNvSpPr txBox="1"/>
          <p:nvPr/>
        </p:nvSpPr>
        <p:spPr>
          <a:xfrm>
            <a:off x="548640" y="4297680"/>
            <a:ext cx="8686800" cy="1188720"/>
          </a:xfrm>
          <a:prstGeom prst="rect">
            <a:avLst/>
          </a:prstGeom>
          <a:noFill/>
          <a:ln/>
        </p:spPr>
        <p:txBody>
          <a:bodyPr wrap="square" lIns="0" tIns="0" rIns="0" bIns="0" rtlCol="0" anchor="ctr">
            <a:normAutofit/>
          </a:bodyPr>
          <a:lstStyle/>
          <a:p>
            <a:pPr indent="0" marL="0">
              <a:buNone/>
            </a:pPr>
            <a:r>
              <a:rPr lang="en-US" sz="1600" dirty="0">
                <a:solidFill>
                  <a:srgbClr val="DCE6DC"/>
                </a:solidFill>
                <a:latin typeface="DM Sans" pitchFamily="34" charset="0"/>
                <a:ea typeface="DM Sans" pitchFamily="34" charset="-122"/>
                <a:cs typeface="DM Sans" pitchFamily="34" charset="-120"/>
              </a:rPr>
              <a:t>Un centre de documentation, une base scientifique, des publications datées et sourcées.</a:t>
            </a:r>
            <a:endParaRPr lang="en-US" sz="1600" dirty="0"/>
          </a:p>
        </p:txBody>
      </p:sp>
      <p:sp>
        <p:nvSpPr>
          <p:cNvPr id="5"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AAB9B0"/>
                </a:solidFill>
                <a:latin typeface="DM Sans" pitchFamily="34" charset="0"/>
                <a:ea typeface="DM Sans" pitchFamily="34" charset="-122"/>
                <a:cs typeface="DM Sans" pitchFamily="34" charset="-120"/>
              </a:rPr>
              <a:t>ODEB LONODJI · lonodji.org/odeb</a:t>
            </a:r>
            <a:endParaRPr lang="en-US" sz="900" dirty="0"/>
          </a:p>
        </p:txBody>
      </p:sp>
      <p:sp>
        <p:nvSpPr>
          <p:cNvPr id="6" name="Text 4"/>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AAB9B0"/>
                </a:solidFill>
                <a:latin typeface="DM Sans" pitchFamily="34" charset="0"/>
                <a:ea typeface="DM Sans" pitchFamily="34" charset="-122"/>
                <a:cs typeface="DM Sans" pitchFamily="34" charset="-120"/>
              </a:rPr>
              <a:t>10 / 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Recherche</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PROGRAMME 02 · TROIS AXES</a:t>
            </a:r>
            <a:endParaRPr lang="en-US" sz="900" dirty="0"/>
          </a:p>
        </p:txBody>
      </p:sp>
      <p:sp>
        <p:nvSpPr>
          <p:cNvPr id="4" name="Text 2"/>
          <p:cNvSpPr txBox="1"/>
          <p:nvPr/>
        </p:nvSpPr>
        <p:spPr>
          <a:xfrm>
            <a:off x="548640" y="1508760"/>
            <a:ext cx="10881360" cy="548640"/>
          </a:xfrm>
          <a:prstGeom prst="rect">
            <a:avLst/>
          </a:prstGeom>
          <a:noFill/>
          <a:ln/>
        </p:spPr>
        <p:txBody>
          <a:bodyPr wrap="square" lIns="0" tIns="0" rIns="0" bIns="0" rtlCol="0" anchor="t">
            <a:normAutofit/>
          </a:bodyPr>
          <a:lstStyle/>
          <a:p>
            <a:pPr indent="0" marL="0">
              <a:buNone/>
            </a:pPr>
            <a:r>
              <a:rPr lang="en-US" sz="1250" dirty="0">
                <a:solidFill>
                  <a:srgbClr val="526159"/>
                </a:solidFill>
                <a:latin typeface="DM Sans" pitchFamily="34" charset="0"/>
                <a:ea typeface="DM Sans" pitchFamily="34" charset="-122"/>
                <a:cs typeface="DM Sans" pitchFamily="34" charset="-120"/>
              </a:rPr>
              <a:t>Le programme donne au pays bedjond ce qu’aucune structure ne lui assure aujourd’hui : un lieu où la connaissance se rassemble, se vérifie et se publie. Il s’appuie sur la thématique Recherche et enseignement supérieur, sur les neuf chercheurs déjà recensés par la bibliothèque et sur la règle de preuve du site — chaque chiffre avec sa source, chaque erreur corrigée à découvert.</a:t>
            </a:r>
            <a:endParaRPr lang="en-US" sz="1250" dirty="0"/>
          </a:p>
        </p:txBody>
      </p:sp>
      <p:sp>
        <p:nvSpPr>
          <p:cNvPr id="5" name="Shape 3"/>
          <p:cNvSpPr/>
          <p:nvPr/>
        </p:nvSpPr>
        <p:spPr>
          <a:xfrm>
            <a:off x="548640" y="2148840"/>
            <a:ext cx="3515258" cy="3794760"/>
          </a:xfrm>
          <a:prstGeom prst="roundRect">
            <a:avLst>
              <a:gd name="adj" fmla="val 4162"/>
            </a:avLst>
          </a:prstGeom>
          <a:solidFill>
            <a:srgbClr val="F4F6F1"/>
          </a:solidFill>
          <a:ln w="9525">
            <a:solidFill>
              <a:srgbClr val="D5DDD6"/>
            </a:solidFill>
            <a:prstDash val="solid"/>
          </a:ln>
        </p:spPr>
      </p:sp>
      <p:sp>
        <p:nvSpPr>
          <p:cNvPr id="6" name="Shape 4"/>
          <p:cNvSpPr/>
          <p:nvPr/>
        </p:nvSpPr>
        <p:spPr>
          <a:xfrm>
            <a:off x="822960" y="2423160"/>
            <a:ext cx="457200" cy="457200"/>
          </a:xfrm>
          <a:prstGeom prst="ellipse">
            <a:avLst/>
          </a:prstGeom>
          <a:solidFill>
            <a:srgbClr val="B6CF45"/>
          </a:solidFill>
          <a:ln w="12700">
            <a:solidFill>
              <a:srgbClr val="B6CF45"/>
            </a:solidFill>
            <a:prstDash val="solid"/>
          </a:ln>
        </p:spPr>
      </p:sp>
      <p:sp>
        <p:nvSpPr>
          <p:cNvPr id="7" name="Text 5"/>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2.1</a:t>
            </a:r>
            <a:endParaRPr lang="en-US" sz="1200" dirty="0"/>
          </a:p>
        </p:txBody>
      </p:sp>
      <p:sp>
        <p:nvSpPr>
          <p:cNvPr id="8" name="Text 6"/>
          <p:cNvSpPr txBox="1"/>
          <p:nvPr/>
        </p:nvSpPr>
        <p:spPr>
          <a:xfrm>
            <a:off x="1417320"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Centre de documentation</a:t>
            </a:r>
            <a:endParaRPr lang="en-US" sz="1500" dirty="0"/>
          </a:p>
        </p:txBody>
      </p:sp>
      <p:sp>
        <p:nvSpPr>
          <p:cNvPr id="9" name="Text 7"/>
          <p:cNvSpPr txBox="1"/>
          <p:nvPr/>
        </p:nvSpPr>
        <p:spPr>
          <a:xfrm>
            <a:off x="822960"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Rassembler en un seul fonds les travaux sur le pays bedjond, quel que soit leur support, et les décrire de façon à ce qu’un étudiant de N’Djamena ou de Montréal les trouve.</a:t>
            </a:r>
            <a:endParaRPr lang="en-US" sz="1200" dirty="0"/>
          </a:p>
        </p:txBody>
      </p:sp>
      <p:sp>
        <p:nvSpPr>
          <p:cNvPr id="10" name="Shape 8"/>
          <p:cNvSpPr/>
          <p:nvPr/>
        </p:nvSpPr>
        <p:spPr>
          <a:xfrm>
            <a:off x="4338218" y="2148840"/>
            <a:ext cx="3515258" cy="3794760"/>
          </a:xfrm>
          <a:prstGeom prst="roundRect">
            <a:avLst>
              <a:gd name="adj" fmla="val 4162"/>
            </a:avLst>
          </a:prstGeom>
          <a:solidFill>
            <a:srgbClr val="F4F6F1"/>
          </a:solidFill>
          <a:ln w="9525">
            <a:solidFill>
              <a:srgbClr val="D5DDD6"/>
            </a:solidFill>
            <a:prstDash val="solid"/>
          </a:ln>
        </p:spPr>
      </p:sp>
      <p:sp>
        <p:nvSpPr>
          <p:cNvPr id="11" name="Shape 9"/>
          <p:cNvSpPr/>
          <p:nvPr/>
        </p:nvSpPr>
        <p:spPr>
          <a:xfrm>
            <a:off x="4612538" y="2423160"/>
            <a:ext cx="457200" cy="457200"/>
          </a:xfrm>
          <a:prstGeom prst="ellipse">
            <a:avLst/>
          </a:prstGeom>
          <a:solidFill>
            <a:srgbClr val="B6CF45"/>
          </a:solidFill>
          <a:ln w="12700">
            <a:solidFill>
              <a:srgbClr val="B6CF45"/>
            </a:solidFill>
            <a:prstDash val="solid"/>
          </a:ln>
        </p:spPr>
      </p:sp>
      <p:sp>
        <p:nvSpPr>
          <p:cNvPr id="12" name="Text 10"/>
          <p:cNvSpPr txBox="1"/>
          <p:nvPr/>
        </p:nvSpPr>
        <p:spPr>
          <a:xfrm>
            <a:off x="4612538"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2.2</a:t>
            </a:r>
            <a:endParaRPr lang="en-US" sz="1200" dirty="0"/>
          </a:p>
        </p:txBody>
      </p:sp>
      <p:sp>
        <p:nvSpPr>
          <p:cNvPr id="13" name="Text 11"/>
          <p:cNvSpPr txBox="1"/>
          <p:nvPr/>
        </p:nvSpPr>
        <p:spPr>
          <a:xfrm>
            <a:off x="5206898"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Base scientifique</a:t>
            </a:r>
            <a:endParaRPr lang="en-US" sz="1500" dirty="0"/>
          </a:p>
        </p:txBody>
      </p:sp>
      <p:sp>
        <p:nvSpPr>
          <p:cNvPr id="14" name="Text 12"/>
          <p:cNvSpPr txBox="1"/>
          <p:nvPr/>
        </p:nvSpPr>
        <p:spPr>
          <a:xfrm>
            <a:off x="4612538"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Des données ouvertes, datées, réutilisables : localités, équipements, besoins, problématiques, indicateurs.</a:t>
            </a:r>
            <a:endParaRPr lang="en-US" sz="1200" dirty="0"/>
          </a:p>
        </p:txBody>
      </p:sp>
      <p:sp>
        <p:nvSpPr>
          <p:cNvPr id="15" name="Shape 13"/>
          <p:cNvSpPr/>
          <p:nvPr/>
        </p:nvSpPr>
        <p:spPr>
          <a:xfrm>
            <a:off x="8127797" y="2148840"/>
            <a:ext cx="3515258" cy="3794760"/>
          </a:xfrm>
          <a:prstGeom prst="roundRect">
            <a:avLst>
              <a:gd name="adj" fmla="val 4162"/>
            </a:avLst>
          </a:prstGeom>
          <a:solidFill>
            <a:srgbClr val="F4F6F1"/>
          </a:solidFill>
          <a:ln w="9525">
            <a:solidFill>
              <a:srgbClr val="D5DDD6"/>
            </a:solidFill>
            <a:prstDash val="solid"/>
          </a:ln>
        </p:spPr>
      </p:sp>
      <p:sp>
        <p:nvSpPr>
          <p:cNvPr id="16" name="Shape 14"/>
          <p:cNvSpPr/>
          <p:nvPr/>
        </p:nvSpPr>
        <p:spPr>
          <a:xfrm>
            <a:off x="8402117" y="2423160"/>
            <a:ext cx="457200" cy="457200"/>
          </a:xfrm>
          <a:prstGeom prst="ellipse">
            <a:avLst/>
          </a:prstGeom>
          <a:solidFill>
            <a:srgbClr val="B6CF45"/>
          </a:solidFill>
          <a:ln w="12700">
            <a:solidFill>
              <a:srgbClr val="B6CF45"/>
            </a:solidFill>
            <a:prstDash val="solid"/>
          </a:ln>
        </p:spPr>
      </p:sp>
      <p:sp>
        <p:nvSpPr>
          <p:cNvPr id="17" name="Text 15"/>
          <p:cNvSpPr txBox="1"/>
          <p:nvPr/>
        </p:nvSpPr>
        <p:spPr>
          <a:xfrm>
            <a:off x="8402117"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2.3</a:t>
            </a:r>
            <a:endParaRPr lang="en-US" sz="1200" dirty="0"/>
          </a:p>
        </p:txBody>
      </p:sp>
      <p:sp>
        <p:nvSpPr>
          <p:cNvPr id="18" name="Text 16"/>
          <p:cNvSpPr txBox="1"/>
          <p:nvPr/>
        </p:nvSpPr>
        <p:spPr>
          <a:xfrm>
            <a:off x="8996477"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Publications</a:t>
            </a:r>
            <a:endParaRPr lang="en-US" sz="1500" dirty="0"/>
          </a:p>
        </p:txBody>
      </p:sp>
      <p:sp>
        <p:nvSpPr>
          <p:cNvPr id="19" name="Text 17"/>
          <p:cNvSpPr txBox="1"/>
          <p:nvPr/>
        </p:nvSpPr>
        <p:spPr>
          <a:xfrm>
            <a:off x="8402117"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Le journal, les plaidoyers, les cahiers et les rapports : ce que l’association écrit, signé, daté, corrigé s’il le faut.</a:t>
            </a:r>
            <a:endParaRPr lang="en-US" sz="1200" dirty="0"/>
          </a:p>
        </p:txBody>
      </p:sp>
      <p:sp>
        <p:nvSpPr>
          <p:cNvPr id="20" name="Text 1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1" name="Text 19"/>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11 / 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280160"/>
            <a:ext cx="3657600" cy="1463040"/>
          </a:xfrm>
          <a:prstGeom prst="rect">
            <a:avLst/>
          </a:prstGeom>
          <a:noFill/>
          <a:ln/>
        </p:spPr>
        <p:txBody>
          <a:bodyPr wrap="square" lIns="0" tIns="0" rIns="0" bIns="0" rtlCol="0" anchor="ctr"/>
          <a:lstStyle/>
          <a:p>
            <a:pPr indent="0" marL="0">
              <a:buNone/>
            </a:pPr>
            <a:r>
              <a:rPr lang="en-US" sz="9600" dirty="0">
                <a:solidFill>
                  <a:srgbClr val="F2C94C"/>
                </a:solidFill>
                <a:latin typeface="Playfair Display" pitchFamily="34" charset="0"/>
                <a:ea typeface="Playfair Display" pitchFamily="34" charset="-122"/>
                <a:cs typeface="Playfair Display" pitchFamily="34" charset="-120"/>
              </a:rPr>
              <a:t>03</a:t>
            </a:r>
            <a:endParaRPr lang="en-US" sz="9600" dirty="0"/>
          </a:p>
        </p:txBody>
      </p:sp>
      <p:sp>
        <p:nvSpPr>
          <p:cNvPr id="3" name="Text 1"/>
          <p:cNvSpPr txBox="1"/>
          <p:nvPr/>
        </p:nvSpPr>
        <p:spPr>
          <a:xfrm>
            <a:off x="548640" y="2926080"/>
            <a:ext cx="9144000" cy="128016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Playfair Display" pitchFamily="34" charset="0"/>
                <a:ea typeface="Playfair Display" pitchFamily="34" charset="-122"/>
                <a:cs typeface="Playfair Display" pitchFamily="34" charset="-120"/>
              </a:rPr>
              <a:t>Développement territorial</a:t>
            </a:r>
            <a:endParaRPr lang="en-US" sz="4000" dirty="0"/>
          </a:p>
        </p:txBody>
      </p:sp>
      <p:sp>
        <p:nvSpPr>
          <p:cNvPr id="4" name="Text 2"/>
          <p:cNvSpPr txBox="1"/>
          <p:nvPr/>
        </p:nvSpPr>
        <p:spPr>
          <a:xfrm>
            <a:off x="548640" y="4297680"/>
            <a:ext cx="8686800" cy="1188720"/>
          </a:xfrm>
          <a:prstGeom prst="rect">
            <a:avLst/>
          </a:prstGeom>
          <a:noFill/>
          <a:ln/>
        </p:spPr>
        <p:txBody>
          <a:bodyPr wrap="square" lIns="0" tIns="0" rIns="0" bIns="0" rtlCol="0" anchor="ctr">
            <a:normAutofit/>
          </a:bodyPr>
          <a:lstStyle/>
          <a:p>
            <a:pPr indent="0" marL="0">
              <a:buNone/>
            </a:pPr>
            <a:r>
              <a:rPr lang="en-US" sz="1600" dirty="0">
                <a:solidFill>
                  <a:srgbClr val="DCE6DC"/>
                </a:solidFill>
                <a:latin typeface="DM Sans" pitchFamily="34" charset="0"/>
                <a:ea typeface="DM Sans" pitchFamily="34" charset="-122"/>
                <a:cs typeface="DM Sans" pitchFamily="34" charset="-120"/>
              </a:rPr>
              <a:t>Un observatoire, des données, des diagnostics : savoir ce qui manque, où, et suivre ce qui change.</a:t>
            </a:r>
            <a:endParaRPr lang="en-US" sz="1600" dirty="0"/>
          </a:p>
        </p:txBody>
      </p:sp>
      <p:sp>
        <p:nvSpPr>
          <p:cNvPr id="5"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AAB9B0"/>
                </a:solidFill>
                <a:latin typeface="DM Sans" pitchFamily="34" charset="0"/>
                <a:ea typeface="DM Sans" pitchFamily="34" charset="-122"/>
                <a:cs typeface="DM Sans" pitchFamily="34" charset="-120"/>
              </a:rPr>
              <a:t>ODEB LONODJI · lonodji.org/odeb</a:t>
            </a:r>
            <a:endParaRPr lang="en-US" sz="900" dirty="0"/>
          </a:p>
        </p:txBody>
      </p:sp>
      <p:sp>
        <p:nvSpPr>
          <p:cNvPr id="6" name="Text 4"/>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AAB9B0"/>
                </a:solidFill>
                <a:latin typeface="DM Sans" pitchFamily="34" charset="0"/>
                <a:ea typeface="DM Sans" pitchFamily="34" charset="-122"/>
                <a:cs typeface="DM Sans" pitchFamily="34" charset="-120"/>
              </a:rPr>
              <a:t>12 / 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Développement territorial</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PROGRAMME 03 · TROIS AXES</a:t>
            </a:r>
            <a:endParaRPr lang="en-US" sz="900" dirty="0"/>
          </a:p>
        </p:txBody>
      </p:sp>
      <p:sp>
        <p:nvSpPr>
          <p:cNvPr id="4" name="Text 2"/>
          <p:cNvSpPr txBox="1"/>
          <p:nvPr/>
        </p:nvSpPr>
        <p:spPr>
          <a:xfrm>
            <a:off x="548640" y="1508760"/>
            <a:ext cx="10881360" cy="548640"/>
          </a:xfrm>
          <a:prstGeom prst="rect">
            <a:avLst/>
          </a:prstGeom>
          <a:noFill/>
          <a:ln/>
        </p:spPr>
        <p:txBody>
          <a:bodyPr wrap="square" lIns="0" tIns="0" rIns="0" bIns="0" rtlCol="0" anchor="t">
            <a:normAutofit/>
          </a:bodyPr>
          <a:lstStyle/>
          <a:p>
            <a:pPr indent="0" marL="0">
              <a:buNone/>
            </a:pPr>
            <a:r>
              <a:rPr lang="en-US" sz="1250" dirty="0">
                <a:solidFill>
                  <a:srgbClr val="526159"/>
                </a:solidFill>
                <a:latin typeface="DM Sans" pitchFamily="34" charset="0"/>
                <a:ea typeface="DM Sans" pitchFamily="34" charset="-122"/>
                <a:cs typeface="DM Sans" pitchFamily="34" charset="-120"/>
              </a:rPr>
              <a:t>Le programme fait du diagnostic territorial une fonction permanente : des données village par village, des diagnostics tenus à jour, un observatoire qui suit les besoins signalés jusqu’à leur résolution et les plaidoyers jusqu’à leur réponse. Il s’appuie sur les piliers III (Services essentiels et développement territorial), IV (Économie inclusive et prospérité locale) et VI (Gouvernance, paix et partenariats) : services de base, développement local, médiation et prévention des conflits, accès au droit et à l’état civil.</a:t>
            </a:r>
            <a:endParaRPr lang="en-US" sz="1250" dirty="0"/>
          </a:p>
        </p:txBody>
      </p:sp>
      <p:sp>
        <p:nvSpPr>
          <p:cNvPr id="5" name="Shape 3"/>
          <p:cNvSpPr/>
          <p:nvPr/>
        </p:nvSpPr>
        <p:spPr>
          <a:xfrm>
            <a:off x="548640" y="2148840"/>
            <a:ext cx="3515258" cy="3794760"/>
          </a:xfrm>
          <a:prstGeom prst="roundRect">
            <a:avLst>
              <a:gd name="adj" fmla="val 4162"/>
            </a:avLst>
          </a:prstGeom>
          <a:solidFill>
            <a:srgbClr val="F4F6F1"/>
          </a:solidFill>
          <a:ln w="9525">
            <a:solidFill>
              <a:srgbClr val="D5DDD6"/>
            </a:solidFill>
            <a:prstDash val="solid"/>
          </a:ln>
        </p:spPr>
      </p:sp>
      <p:sp>
        <p:nvSpPr>
          <p:cNvPr id="6" name="Shape 4"/>
          <p:cNvSpPr/>
          <p:nvPr/>
        </p:nvSpPr>
        <p:spPr>
          <a:xfrm>
            <a:off x="822960" y="2423160"/>
            <a:ext cx="457200" cy="457200"/>
          </a:xfrm>
          <a:prstGeom prst="ellipse">
            <a:avLst/>
          </a:prstGeom>
          <a:solidFill>
            <a:srgbClr val="B6CF45"/>
          </a:solidFill>
          <a:ln w="12700">
            <a:solidFill>
              <a:srgbClr val="B6CF45"/>
            </a:solidFill>
            <a:prstDash val="solid"/>
          </a:ln>
        </p:spPr>
      </p:sp>
      <p:sp>
        <p:nvSpPr>
          <p:cNvPr id="7" name="Text 5"/>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3.1</a:t>
            </a:r>
            <a:endParaRPr lang="en-US" sz="1200" dirty="0"/>
          </a:p>
        </p:txBody>
      </p:sp>
      <p:sp>
        <p:nvSpPr>
          <p:cNvPr id="8" name="Text 6"/>
          <p:cNvSpPr txBox="1"/>
          <p:nvPr/>
        </p:nvSpPr>
        <p:spPr>
          <a:xfrm>
            <a:off x="1417320"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Observatoire</a:t>
            </a:r>
            <a:endParaRPr lang="en-US" sz="1500" dirty="0"/>
          </a:p>
        </p:txBody>
      </p:sp>
      <p:sp>
        <p:nvSpPr>
          <p:cNvPr id="9" name="Text 7"/>
          <p:cNvSpPr txBox="1"/>
          <p:nvPr/>
        </p:nvSpPr>
        <p:spPr>
          <a:xfrm>
            <a:off x="822960"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Suivre, dans la durée et publiquement, les besoins du Mandoul Occidental : signalés, vérifiés, portés, résolus.</a:t>
            </a:r>
            <a:endParaRPr lang="en-US" sz="1200" dirty="0"/>
          </a:p>
        </p:txBody>
      </p:sp>
      <p:sp>
        <p:nvSpPr>
          <p:cNvPr id="10" name="Shape 8"/>
          <p:cNvSpPr/>
          <p:nvPr/>
        </p:nvSpPr>
        <p:spPr>
          <a:xfrm>
            <a:off x="4338218" y="2148840"/>
            <a:ext cx="3515258" cy="3794760"/>
          </a:xfrm>
          <a:prstGeom prst="roundRect">
            <a:avLst>
              <a:gd name="adj" fmla="val 4162"/>
            </a:avLst>
          </a:prstGeom>
          <a:solidFill>
            <a:srgbClr val="F4F6F1"/>
          </a:solidFill>
          <a:ln w="9525">
            <a:solidFill>
              <a:srgbClr val="D5DDD6"/>
            </a:solidFill>
            <a:prstDash val="solid"/>
          </a:ln>
        </p:spPr>
      </p:sp>
      <p:sp>
        <p:nvSpPr>
          <p:cNvPr id="11" name="Shape 9"/>
          <p:cNvSpPr/>
          <p:nvPr/>
        </p:nvSpPr>
        <p:spPr>
          <a:xfrm>
            <a:off x="4612538" y="2423160"/>
            <a:ext cx="457200" cy="457200"/>
          </a:xfrm>
          <a:prstGeom prst="ellipse">
            <a:avLst/>
          </a:prstGeom>
          <a:solidFill>
            <a:srgbClr val="B6CF45"/>
          </a:solidFill>
          <a:ln w="12700">
            <a:solidFill>
              <a:srgbClr val="B6CF45"/>
            </a:solidFill>
            <a:prstDash val="solid"/>
          </a:ln>
        </p:spPr>
      </p:sp>
      <p:sp>
        <p:nvSpPr>
          <p:cNvPr id="12" name="Text 10"/>
          <p:cNvSpPr txBox="1"/>
          <p:nvPr/>
        </p:nvSpPr>
        <p:spPr>
          <a:xfrm>
            <a:off x="4612538"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3.2</a:t>
            </a:r>
            <a:endParaRPr lang="en-US" sz="1200" dirty="0"/>
          </a:p>
        </p:txBody>
      </p:sp>
      <p:sp>
        <p:nvSpPr>
          <p:cNvPr id="13" name="Text 11"/>
          <p:cNvSpPr txBox="1"/>
          <p:nvPr/>
        </p:nvSpPr>
        <p:spPr>
          <a:xfrm>
            <a:off x="5206898"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Données</a:t>
            </a:r>
            <a:endParaRPr lang="en-US" sz="1500" dirty="0"/>
          </a:p>
        </p:txBody>
      </p:sp>
      <p:sp>
        <p:nvSpPr>
          <p:cNvPr id="14" name="Text 12"/>
          <p:cNvSpPr txBox="1"/>
          <p:nvPr/>
        </p:nvSpPr>
        <p:spPr>
          <a:xfrm>
            <a:off x="4612538"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Ce que l’on sait de chaque localité : position, unité, équipements, ce que le site en dit, ce qui reste à documenter.</a:t>
            </a:r>
            <a:endParaRPr lang="en-US" sz="1200" dirty="0"/>
          </a:p>
        </p:txBody>
      </p:sp>
      <p:sp>
        <p:nvSpPr>
          <p:cNvPr id="15" name="Shape 13"/>
          <p:cNvSpPr/>
          <p:nvPr/>
        </p:nvSpPr>
        <p:spPr>
          <a:xfrm>
            <a:off x="8127797" y="2148840"/>
            <a:ext cx="3515258" cy="3794760"/>
          </a:xfrm>
          <a:prstGeom prst="roundRect">
            <a:avLst>
              <a:gd name="adj" fmla="val 4162"/>
            </a:avLst>
          </a:prstGeom>
          <a:solidFill>
            <a:srgbClr val="F4F6F1"/>
          </a:solidFill>
          <a:ln w="9525">
            <a:solidFill>
              <a:srgbClr val="D5DDD6"/>
            </a:solidFill>
            <a:prstDash val="solid"/>
          </a:ln>
        </p:spPr>
      </p:sp>
      <p:sp>
        <p:nvSpPr>
          <p:cNvPr id="16" name="Shape 14"/>
          <p:cNvSpPr/>
          <p:nvPr/>
        </p:nvSpPr>
        <p:spPr>
          <a:xfrm>
            <a:off x="8402117" y="2423160"/>
            <a:ext cx="457200" cy="457200"/>
          </a:xfrm>
          <a:prstGeom prst="ellipse">
            <a:avLst/>
          </a:prstGeom>
          <a:solidFill>
            <a:srgbClr val="B6CF45"/>
          </a:solidFill>
          <a:ln w="12700">
            <a:solidFill>
              <a:srgbClr val="B6CF45"/>
            </a:solidFill>
            <a:prstDash val="solid"/>
          </a:ln>
        </p:spPr>
      </p:sp>
      <p:sp>
        <p:nvSpPr>
          <p:cNvPr id="17" name="Text 15"/>
          <p:cNvSpPr txBox="1"/>
          <p:nvPr/>
        </p:nvSpPr>
        <p:spPr>
          <a:xfrm>
            <a:off x="8402117"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3.3</a:t>
            </a:r>
            <a:endParaRPr lang="en-US" sz="1200" dirty="0"/>
          </a:p>
        </p:txBody>
      </p:sp>
      <p:sp>
        <p:nvSpPr>
          <p:cNvPr id="18" name="Text 16"/>
          <p:cNvSpPr txBox="1"/>
          <p:nvPr/>
        </p:nvSpPr>
        <p:spPr>
          <a:xfrm>
            <a:off x="8996477"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Diagnostics</a:t>
            </a:r>
            <a:endParaRPr lang="en-US" sz="1500" dirty="0"/>
          </a:p>
        </p:txBody>
      </p:sp>
      <p:sp>
        <p:nvSpPr>
          <p:cNvPr id="19" name="Text 17"/>
          <p:cNvSpPr txBox="1"/>
          <p:nvPr/>
        </p:nvSpPr>
        <p:spPr>
          <a:xfrm>
            <a:off x="8402117"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Trente-quatre problématiques classées par domaine, sept chantiers prioritaires, huit dossiers de plaidoyer publiés : le diagnostic existe, il doit vivre.</a:t>
            </a:r>
            <a:endParaRPr lang="en-US" sz="1200" dirty="0"/>
          </a:p>
        </p:txBody>
      </p:sp>
      <p:sp>
        <p:nvSpPr>
          <p:cNvPr id="20" name="Text 1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1" name="Text 19"/>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13 / 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280160"/>
            <a:ext cx="3657600" cy="1463040"/>
          </a:xfrm>
          <a:prstGeom prst="rect">
            <a:avLst/>
          </a:prstGeom>
          <a:noFill/>
          <a:ln/>
        </p:spPr>
        <p:txBody>
          <a:bodyPr wrap="square" lIns="0" tIns="0" rIns="0" bIns="0" rtlCol="0" anchor="ctr"/>
          <a:lstStyle/>
          <a:p>
            <a:pPr indent="0" marL="0">
              <a:buNone/>
            </a:pPr>
            <a:r>
              <a:rPr lang="en-US" sz="9600" dirty="0">
                <a:solidFill>
                  <a:srgbClr val="F2C94C"/>
                </a:solidFill>
                <a:latin typeface="Playfair Display" pitchFamily="34" charset="0"/>
                <a:ea typeface="Playfair Display" pitchFamily="34" charset="-122"/>
                <a:cs typeface="Playfair Display" pitchFamily="34" charset="-120"/>
              </a:rPr>
              <a:t>04</a:t>
            </a:r>
            <a:endParaRPr lang="en-US" sz="9600" dirty="0"/>
          </a:p>
        </p:txBody>
      </p:sp>
      <p:sp>
        <p:nvSpPr>
          <p:cNvPr id="3" name="Text 1"/>
          <p:cNvSpPr txBox="1"/>
          <p:nvPr/>
        </p:nvSpPr>
        <p:spPr>
          <a:xfrm>
            <a:off x="548640" y="2926080"/>
            <a:ext cx="9144000" cy="128016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Playfair Display" pitchFamily="34" charset="0"/>
                <a:ea typeface="Playfair Display" pitchFamily="34" charset="-122"/>
                <a:cs typeface="Playfair Display" pitchFamily="34" charset="-120"/>
              </a:rPr>
              <a:t>Jeunesse et Innovation</a:t>
            </a:r>
            <a:endParaRPr lang="en-US" sz="4000" dirty="0"/>
          </a:p>
        </p:txBody>
      </p:sp>
      <p:sp>
        <p:nvSpPr>
          <p:cNvPr id="4" name="Text 2"/>
          <p:cNvSpPr txBox="1"/>
          <p:nvPr/>
        </p:nvSpPr>
        <p:spPr>
          <a:xfrm>
            <a:off x="548640" y="4297680"/>
            <a:ext cx="8686800" cy="1188720"/>
          </a:xfrm>
          <a:prstGeom prst="rect">
            <a:avLst/>
          </a:prstGeom>
          <a:noFill/>
          <a:ln/>
        </p:spPr>
        <p:txBody>
          <a:bodyPr wrap="square" lIns="0" tIns="0" rIns="0" bIns="0" rtlCol="0" anchor="ctr">
            <a:normAutofit/>
          </a:bodyPr>
          <a:lstStyle/>
          <a:p>
            <a:pPr indent="0" marL="0">
              <a:buNone/>
            </a:pPr>
            <a:r>
              <a:rPr lang="en-US" sz="1600" dirty="0">
                <a:solidFill>
                  <a:srgbClr val="DCE6DC"/>
                </a:solidFill>
                <a:latin typeface="DM Sans" pitchFamily="34" charset="0"/>
                <a:ea typeface="DM Sans" pitchFamily="34" charset="-122"/>
                <a:cs typeface="DM Sans" pitchFamily="34" charset="-120"/>
              </a:rPr>
              <a:t>Une académie numérique, l’intelligence artificielle, des compétences : préparer ceux qui feront Bédjondo.</a:t>
            </a:r>
            <a:endParaRPr lang="en-US" sz="1600" dirty="0"/>
          </a:p>
        </p:txBody>
      </p:sp>
      <p:sp>
        <p:nvSpPr>
          <p:cNvPr id="5"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AAB9B0"/>
                </a:solidFill>
                <a:latin typeface="DM Sans" pitchFamily="34" charset="0"/>
                <a:ea typeface="DM Sans" pitchFamily="34" charset="-122"/>
                <a:cs typeface="DM Sans" pitchFamily="34" charset="-120"/>
              </a:rPr>
              <a:t>ODEB LONODJI · lonodji.org/odeb</a:t>
            </a:r>
            <a:endParaRPr lang="en-US" sz="900" dirty="0"/>
          </a:p>
        </p:txBody>
      </p:sp>
      <p:sp>
        <p:nvSpPr>
          <p:cNvPr id="6" name="Text 4"/>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AAB9B0"/>
                </a:solidFill>
                <a:latin typeface="DM Sans" pitchFamily="34" charset="0"/>
                <a:ea typeface="DM Sans" pitchFamily="34" charset="-122"/>
                <a:cs typeface="DM Sans" pitchFamily="34" charset="-120"/>
              </a:rPr>
              <a:t>14 / 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Jeunesse et Innovation</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PROGRAMME 04 · TROIS AXES</a:t>
            </a:r>
            <a:endParaRPr lang="en-US" sz="900" dirty="0"/>
          </a:p>
        </p:txBody>
      </p:sp>
      <p:sp>
        <p:nvSpPr>
          <p:cNvPr id="4" name="Text 2"/>
          <p:cNvSpPr txBox="1"/>
          <p:nvPr/>
        </p:nvSpPr>
        <p:spPr>
          <a:xfrm>
            <a:off x="548640" y="1508760"/>
            <a:ext cx="10881360" cy="548640"/>
          </a:xfrm>
          <a:prstGeom prst="rect">
            <a:avLst/>
          </a:prstGeom>
          <a:noFill/>
          <a:ln/>
        </p:spPr>
        <p:txBody>
          <a:bodyPr wrap="square" lIns="0" tIns="0" rIns="0" bIns="0" rtlCol="0" anchor="t">
            <a:normAutofit/>
          </a:bodyPr>
          <a:lstStyle/>
          <a:p>
            <a:pPr indent="0" marL="0">
              <a:buNone/>
            </a:pPr>
            <a:r>
              <a:rPr lang="en-US" sz="1250" dirty="0">
                <a:solidFill>
                  <a:srgbClr val="526159"/>
                </a:solidFill>
                <a:latin typeface="DM Sans" pitchFamily="34" charset="0"/>
                <a:ea typeface="DM Sans" pitchFamily="34" charset="-122"/>
                <a:cs typeface="DM Sans" pitchFamily="34" charset="-120"/>
              </a:rPr>
              <a:t>Le programme s’adresse aux jeunes de Bédjondo et de ses cantons : apprendre, se former, entreprendre, sans quitter le pays bedjond pour cela. Il réunit la thématique Éducation et formation professionnelle, les thématiques TIC et connectivité, Données et intelligence artificielle, Compétences numériques et emploi des jeunes et la thématique Moyens d’existence et inclusion financière, ainsi que l’espace numérique communautaire, premier chantier de l’association.</a:t>
            </a:r>
            <a:endParaRPr lang="en-US" sz="1250" dirty="0"/>
          </a:p>
        </p:txBody>
      </p:sp>
      <p:sp>
        <p:nvSpPr>
          <p:cNvPr id="5" name="Shape 3"/>
          <p:cNvSpPr/>
          <p:nvPr/>
        </p:nvSpPr>
        <p:spPr>
          <a:xfrm>
            <a:off x="548640" y="2148840"/>
            <a:ext cx="3515258" cy="3794760"/>
          </a:xfrm>
          <a:prstGeom prst="roundRect">
            <a:avLst>
              <a:gd name="adj" fmla="val 4162"/>
            </a:avLst>
          </a:prstGeom>
          <a:solidFill>
            <a:srgbClr val="F4F6F1"/>
          </a:solidFill>
          <a:ln w="9525">
            <a:solidFill>
              <a:srgbClr val="D5DDD6"/>
            </a:solidFill>
            <a:prstDash val="solid"/>
          </a:ln>
        </p:spPr>
      </p:sp>
      <p:sp>
        <p:nvSpPr>
          <p:cNvPr id="6" name="Shape 4"/>
          <p:cNvSpPr/>
          <p:nvPr/>
        </p:nvSpPr>
        <p:spPr>
          <a:xfrm>
            <a:off x="822960" y="2423160"/>
            <a:ext cx="457200" cy="457200"/>
          </a:xfrm>
          <a:prstGeom prst="ellipse">
            <a:avLst/>
          </a:prstGeom>
          <a:solidFill>
            <a:srgbClr val="B6CF45"/>
          </a:solidFill>
          <a:ln w="12700">
            <a:solidFill>
              <a:srgbClr val="B6CF45"/>
            </a:solidFill>
            <a:prstDash val="solid"/>
          </a:ln>
        </p:spPr>
      </p:sp>
      <p:sp>
        <p:nvSpPr>
          <p:cNvPr id="7" name="Text 5"/>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4.1</a:t>
            </a:r>
            <a:endParaRPr lang="en-US" sz="1200" dirty="0"/>
          </a:p>
        </p:txBody>
      </p:sp>
      <p:sp>
        <p:nvSpPr>
          <p:cNvPr id="8" name="Text 6"/>
          <p:cNvSpPr txBox="1"/>
          <p:nvPr/>
        </p:nvSpPr>
        <p:spPr>
          <a:xfrm>
            <a:off x="1417320"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Académie numérique</a:t>
            </a:r>
            <a:endParaRPr lang="en-US" sz="1500" dirty="0"/>
          </a:p>
        </p:txBody>
      </p:sp>
      <p:sp>
        <p:nvSpPr>
          <p:cNvPr id="9" name="Text 7"/>
          <p:cNvSpPr txBox="1"/>
          <p:nvPr/>
        </p:nvSpPr>
        <p:spPr>
          <a:xfrm>
            <a:off x="822960"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Un lieu et un programme pour apprendre le numérique à Bédjondo : bureautique, code, données, métiers en ligne.</a:t>
            </a:r>
            <a:endParaRPr lang="en-US" sz="1200" dirty="0"/>
          </a:p>
        </p:txBody>
      </p:sp>
      <p:sp>
        <p:nvSpPr>
          <p:cNvPr id="10" name="Shape 8"/>
          <p:cNvSpPr/>
          <p:nvPr/>
        </p:nvSpPr>
        <p:spPr>
          <a:xfrm>
            <a:off x="4338218" y="2148840"/>
            <a:ext cx="3515258" cy="3794760"/>
          </a:xfrm>
          <a:prstGeom prst="roundRect">
            <a:avLst>
              <a:gd name="adj" fmla="val 4162"/>
            </a:avLst>
          </a:prstGeom>
          <a:solidFill>
            <a:srgbClr val="F4F6F1"/>
          </a:solidFill>
          <a:ln w="9525">
            <a:solidFill>
              <a:srgbClr val="D5DDD6"/>
            </a:solidFill>
            <a:prstDash val="solid"/>
          </a:ln>
        </p:spPr>
      </p:sp>
      <p:sp>
        <p:nvSpPr>
          <p:cNvPr id="11" name="Shape 9"/>
          <p:cNvSpPr/>
          <p:nvPr/>
        </p:nvSpPr>
        <p:spPr>
          <a:xfrm>
            <a:off x="4612538" y="2423160"/>
            <a:ext cx="457200" cy="457200"/>
          </a:xfrm>
          <a:prstGeom prst="ellipse">
            <a:avLst/>
          </a:prstGeom>
          <a:solidFill>
            <a:srgbClr val="B6CF45"/>
          </a:solidFill>
          <a:ln w="12700">
            <a:solidFill>
              <a:srgbClr val="B6CF45"/>
            </a:solidFill>
            <a:prstDash val="solid"/>
          </a:ln>
        </p:spPr>
      </p:sp>
      <p:sp>
        <p:nvSpPr>
          <p:cNvPr id="12" name="Text 10"/>
          <p:cNvSpPr txBox="1"/>
          <p:nvPr/>
        </p:nvSpPr>
        <p:spPr>
          <a:xfrm>
            <a:off x="4612538"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4.2</a:t>
            </a:r>
            <a:endParaRPr lang="en-US" sz="1200" dirty="0"/>
          </a:p>
        </p:txBody>
      </p:sp>
      <p:sp>
        <p:nvSpPr>
          <p:cNvPr id="13" name="Text 11"/>
          <p:cNvSpPr txBox="1"/>
          <p:nvPr/>
        </p:nvSpPr>
        <p:spPr>
          <a:xfrm>
            <a:off x="5206898"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Intelligence artificielle</a:t>
            </a:r>
            <a:endParaRPr lang="en-US" sz="1500" dirty="0"/>
          </a:p>
        </p:txBody>
      </p:sp>
      <p:sp>
        <p:nvSpPr>
          <p:cNvPr id="14" name="Text 12"/>
          <p:cNvSpPr txBox="1"/>
          <p:nvPr/>
        </p:nvSpPr>
        <p:spPr>
          <a:xfrm>
            <a:off x="4612538"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Ce que l’IA peut apporter au pays bedjond : transcrire et traduire le nangnda, exploiter les données du territoire, aider à documenter.</a:t>
            </a:r>
            <a:endParaRPr lang="en-US" sz="1200" dirty="0"/>
          </a:p>
        </p:txBody>
      </p:sp>
      <p:sp>
        <p:nvSpPr>
          <p:cNvPr id="15" name="Shape 13"/>
          <p:cNvSpPr/>
          <p:nvPr/>
        </p:nvSpPr>
        <p:spPr>
          <a:xfrm>
            <a:off x="8127797" y="2148840"/>
            <a:ext cx="3515258" cy="3794760"/>
          </a:xfrm>
          <a:prstGeom prst="roundRect">
            <a:avLst>
              <a:gd name="adj" fmla="val 4162"/>
            </a:avLst>
          </a:prstGeom>
          <a:solidFill>
            <a:srgbClr val="F4F6F1"/>
          </a:solidFill>
          <a:ln w="9525">
            <a:solidFill>
              <a:srgbClr val="D5DDD6"/>
            </a:solidFill>
            <a:prstDash val="solid"/>
          </a:ln>
        </p:spPr>
      </p:sp>
      <p:sp>
        <p:nvSpPr>
          <p:cNvPr id="16" name="Shape 14"/>
          <p:cNvSpPr/>
          <p:nvPr/>
        </p:nvSpPr>
        <p:spPr>
          <a:xfrm>
            <a:off x="8402117" y="2423160"/>
            <a:ext cx="457200" cy="457200"/>
          </a:xfrm>
          <a:prstGeom prst="ellipse">
            <a:avLst/>
          </a:prstGeom>
          <a:solidFill>
            <a:srgbClr val="B6CF45"/>
          </a:solidFill>
          <a:ln w="12700">
            <a:solidFill>
              <a:srgbClr val="B6CF45"/>
            </a:solidFill>
            <a:prstDash val="solid"/>
          </a:ln>
        </p:spPr>
      </p:sp>
      <p:sp>
        <p:nvSpPr>
          <p:cNvPr id="17" name="Text 15"/>
          <p:cNvSpPr txBox="1"/>
          <p:nvPr/>
        </p:nvSpPr>
        <p:spPr>
          <a:xfrm>
            <a:off x="8402117"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4.3</a:t>
            </a:r>
            <a:endParaRPr lang="en-US" sz="1200" dirty="0"/>
          </a:p>
        </p:txBody>
      </p:sp>
      <p:sp>
        <p:nvSpPr>
          <p:cNvPr id="18" name="Text 16"/>
          <p:cNvSpPr txBox="1"/>
          <p:nvPr/>
        </p:nvSpPr>
        <p:spPr>
          <a:xfrm>
            <a:off x="8996477"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Compétences</a:t>
            </a:r>
            <a:endParaRPr lang="en-US" sz="1500" dirty="0"/>
          </a:p>
        </p:txBody>
      </p:sp>
      <p:sp>
        <p:nvSpPr>
          <p:cNvPr id="19" name="Text 17"/>
          <p:cNvSpPr txBox="1"/>
          <p:nvPr/>
        </p:nvSpPr>
        <p:spPr>
          <a:xfrm>
            <a:off x="8402117"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Parcours, mentorat, premiers emplois : relier chaque jeune à quelqu’un qui sait, ici ou dans la diaspora.</a:t>
            </a:r>
            <a:endParaRPr lang="en-US" sz="1200" dirty="0"/>
          </a:p>
        </p:txBody>
      </p:sp>
      <p:sp>
        <p:nvSpPr>
          <p:cNvPr id="20" name="Text 1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1" name="Text 19"/>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15 / 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1280160"/>
            <a:ext cx="3657600" cy="1463040"/>
          </a:xfrm>
          <a:prstGeom prst="rect">
            <a:avLst/>
          </a:prstGeom>
          <a:noFill/>
          <a:ln/>
        </p:spPr>
        <p:txBody>
          <a:bodyPr wrap="square" lIns="0" tIns="0" rIns="0" bIns="0" rtlCol="0" anchor="ctr"/>
          <a:lstStyle/>
          <a:p>
            <a:pPr indent="0" marL="0">
              <a:buNone/>
            </a:pPr>
            <a:r>
              <a:rPr lang="en-US" sz="9600" dirty="0">
                <a:solidFill>
                  <a:srgbClr val="F2C94C"/>
                </a:solidFill>
                <a:latin typeface="Playfair Display" pitchFamily="34" charset="0"/>
                <a:ea typeface="Playfair Display" pitchFamily="34" charset="-122"/>
                <a:cs typeface="Playfair Display" pitchFamily="34" charset="-120"/>
              </a:rPr>
              <a:t>05</a:t>
            </a:r>
            <a:endParaRPr lang="en-US" sz="9600" dirty="0"/>
          </a:p>
        </p:txBody>
      </p:sp>
      <p:sp>
        <p:nvSpPr>
          <p:cNvPr id="3" name="Text 1"/>
          <p:cNvSpPr txBox="1"/>
          <p:nvPr/>
        </p:nvSpPr>
        <p:spPr>
          <a:xfrm>
            <a:off x="548640" y="2926080"/>
            <a:ext cx="9144000" cy="128016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Playfair Display" pitchFamily="34" charset="0"/>
                <a:ea typeface="Playfair Display" pitchFamily="34" charset="-122"/>
                <a:cs typeface="Playfair Display" pitchFamily="34" charset="-120"/>
              </a:rPr>
              <a:t>Diaspora</a:t>
            </a:r>
            <a:endParaRPr lang="en-US" sz="4000" dirty="0"/>
          </a:p>
        </p:txBody>
      </p:sp>
      <p:sp>
        <p:nvSpPr>
          <p:cNvPr id="4" name="Text 2"/>
          <p:cNvSpPr txBox="1"/>
          <p:nvPr/>
        </p:nvSpPr>
        <p:spPr>
          <a:xfrm>
            <a:off x="548640" y="4297680"/>
            <a:ext cx="8686800" cy="1188720"/>
          </a:xfrm>
          <a:prstGeom prst="rect">
            <a:avLst/>
          </a:prstGeom>
          <a:noFill/>
          <a:ln/>
        </p:spPr>
        <p:txBody>
          <a:bodyPr wrap="square" lIns="0" tIns="0" rIns="0" bIns="0" rtlCol="0" anchor="ctr">
            <a:normAutofit/>
          </a:bodyPr>
          <a:lstStyle/>
          <a:p>
            <a:pPr indent="0" marL="0">
              <a:buNone/>
            </a:pPr>
            <a:r>
              <a:rPr lang="en-US" sz="1600" dirty="0">
                <a:solidFill>
                  <a:srgbClr val="DCE6DC"/>
                </a:solidFill>
                <a:latin typeface="DM Sans" pitchFamily="34" charset="0"/>
                <a:ea typeface="DM Sans" pitchFamily="34" charset="-122"/>
                <a:cs typeface="DM Sans" pitchFamily="34" charset="-120"/>
              </a:rPr>
              <a:t>Des experts, des investissements, du mentorat : la diaspora comme partie prenante, pas comme guichet.</a:t>
            </a:r>
            <a:endParaRPr lang="en-US" sz="1600" dirty="0"/>
          </a:p>
        </p:txBody>
      </p:sp>
      <p:sp>
        <p:nvSpPr>
          <p:cNvPr id="5"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AAB9B0"/>
                </a:solidFill>
                <a:latin typeface="DM Sans" pitchFamily="34" charset="0"/>
                <a:ea typeface="DM Sans" pitchFamily="34" charset="-122"/>
                <a:cs typeface="DM Sans" pitchFamily="34" charset="-120"/>
              </a:rPr>
              <a:t>ODEB LONODJI · lonodji.org/odeb</a:t>
            </a:r>
            <a:endParaRPr lang="en-US" sz="900" dirty="0"/>
          </a:p>
        </p:txBody>
      </p:sp>
      <p:sp>
        <p:nvSpPr>
          <p:cNvPr id="6" name="Text 4"/>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AAB9B0"/>
                </a:solidFill>
                <a:latin typeface="DM Sans" pitchFamily="34" charset="0"/>
                <a:ea typeface="DM Sans" pitchFamily="34" charset="-122"/>
                <a:cs typeface="DM Sans" pitchFamily="34" charset="-120"/>
              </a:rPr>
              <a:t>16 / 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Diaspora</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PROGRAMME 05 · TROIS AXES</a:t>
            </a:r>
            <a:endParaRPr lang="en-US" sz="900" dirty="0"/>
          </a:p>
        </p:txBody>
      </p:sp>
      <p:sp>
        <p:nvSpPr>
          <p:cNvPr id="4" name="Text 2"/>
          <p:cNvSpPr txBox="1"/>
          <p:nvPr/>
        </p:nvSpPr>
        <p:spPr>
          <a:xfrm>
            <a:off x="548640" y="1508760"/>
            <a:ext cx="10881360" cy="548640"/>
          </a:xfrm>
          <a:prstGeom prst="rect">
            <a:avLst/>
          </a:prstGeom>
          <a:noFill/>
          <a:ln/>
        </p:spPr>
        <p:txBody>
          <a:bodyPr wrap="square" lIns="0" tIns="0" rIns="0" bIns="0" rtlCol="0" anchor="t">
            <a:normAutofit/>
          </a:bodyPr>
          <a:lstStyle/>
          <a:p>
            <a:pPr indent="0" marL="0">
              <a:buNone/>
            </a:pPr>
            <a:r>
              <a:rPr lang="en-US" sz="1250" dirty="0">
                <a:solidFill>
                  <a:srgbClr val="526159"/>
                </a:solidFill>
                <a:latin typeface="DM Sans" pitchFamily="34" charset="0"/>
                <a:ea typeface="DM Sans" pitchFamily="34" charset="-122"/>
                <a:cs typeface="DM Sans" pitchFamily="34" charset="-120"/>
              </a:rPr>
              <a:t>Le programme organise ce que la diaspora bedjond peut apporter — du savoir, du temps, des moyens — et ce qu’elle est en droit d’attendre en retour : des comptes, des preuves, des résultats. Il s’appuie sur le répertoire des compétences ouvert en septembre 2026 et sur la thématique Diaspora et partenariats.</a:t>
            </a:r>
            <a:endParaRPr lang="en-US" sz="1250" dirty="0"/>
          </a:p>
        </p:txBody>
      </p:sp>
      <p:sp>
        <p:nvSpPr>
          <p:cNvPr id="5" name="Shape 3"/>
          <p:cNvSpPr/>
          <p:nvPr/>
        </p:nvSpPr>
        <p:spPr>
          <a:xfrm>
            <a:off x="548640" y="2148840"/>
            <a:ext cx="3515258" cy="3794760"/>
          </a:xfrm>
          <a:prstGeom prst="roundRect">
            <a:avLst>
              <a:gd name="adj" fmla="val 4162"/>
            </a:avLst>
          </a:prstGeom>
          <a:solidFill>
            <a:srgbClr val="F4F6F1"/>
          </a:solidFill>
          <a:ln w="9525">
            <a:solidFill>
              <a:srgbClr val="D5DDD6"/>
            </a:solidFill>
            <a:prstDash val="solid"/>
          </a:ln>
        </p:spPr>
      </p:sp>
      <p:sp>
        <p:nvSpPr>
          <p:cNvPr id="6" name="Shape 4"/>
          <p:cNvSpPr/>
          <p:nvPr/>
        </p:nvSpPr>
        <p:spPr>
          <a:xfrm>
            <a:off x="822960" y="2423160"/>
            <a:ext cx="457200" cy="457200"/>
          </a:xfrm>
          <a:prstGeom prst="ellipse">
            <a:avLst/>
          </a:prstGeom>
          <a:solidFill>
            <a:srgbClr val="B6CF45"/>
          </a:solidFill>
          <a:ln w="12700">
            <a:solidFill>
              <a:srgbClr val="B6CF45"/>
            </a:solidFill>
            <a:prstDash val="solid"/>
          </a:ln>
        </p:spPr>
      </p:sp>
      <p:sp>
        <p:nvSpPr>
          <p:cNvPr id="7" name="Text 5"/>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5.1</a:t>
            </a:r>
            <a:endParaRPr lang="en-US" sz="1200" dirty="0"/>
          </a:p>
        </p:txBody>
      </p:sp>
      <p:sp>
        <p:nvSpPr>
          <p:cNvPr id="8" name="Text 6"/>
          <p:cNvSpPr txBox="1"/>
          <p:nvPr/>
        </p:nvSpPr>
        <p:spPr>
          <a:xfrm>
            <a:off x="1417320"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Experts</a:t>
            </a:r>
            <a:endParaRPr lang="en-US" sz="1500" dirty="0"/>
          </a:p>
        </p:txBody>
      </p:sp>
      <p:sp>
        <p:nvSpPr>
          <p:cNvPr id="9" name="Text 7"/>
          <p:cNvSpPr txBox="1"/>
          <p:nvPr/>
        </p:nvSpPr>
        <p:spPr>
          <a:xfrm>
            <a:off x="822960"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Savoir qui sait quoi, et solliciter chacun seulement pour ce qu’il a dit pouvoir faire.</a:t>
            </a:r>
            <a:endParaRPr lang="en-US" sz="1200" dirty="0"/>
          </a:p>
        </p:txBody>
      </p:sp>
      <p:sp>
        <p:nvSpPr>
          <p:cNvPr id="10" name="Shape 8"/>
          <p:cNvSpPr/>
          <p:nvPr/>
        </p:nvSpPr>
        <p:spPr>
          <a:xfrm>
            <a:off x="4338218" y="2148840"/>
            <a:ext cx="3515258" cy="3794760"/>
          </a:xfrm>
          <a:prstGeom prst="roundRect">
            <a:avLst>
              <a:gd name="adj" fmla="val 4162"/>
            </a:avLst>
          </a:prstGeom>
          <a:solidFill>
            <a:srgbClr val="F4F6F1"/>
          </a:solidFill>
          <a:ln w="9525">
            <a:solidFill>
              <a:srgbClr val="D5DDD6"/>
            </a:solidFill>
            <a:prstDash val="solid"/>
          </a:ln>
        </p:spPr>
      </p:sp>
      <p:sp>
        <p:nvSpPr>
          <p:cNvPr id="11" name="Shape 9"/>
          <p:cNvSpPr/>
          <p:nvPr/>
        </p:nvSpPr>
        <p:spPr>
          <a:xfrm>
            <a:off x="4612538" y="2423160"/>
            <a:ext cx="457200" cy="457200"/>
          </a:xfrm>
          <a:prstGeom prst="ellipse">
            <a:avLst/>
          </a:prstGeom>
          <a:solidFill>
            <a:srgbClr val="B6CF45"/>
          </a:solidFill>
          <a:ln w="12700">
            <a:solidFill>
              <a:srgbClr val="B6CF45"/>
            </a:solidFill>
            <a:prstDash val="solid"/>
          </a:ln>
        </p:spPr>
      </p:sp>
      <p:sp>
        <p:nvSpPr>
          <p:cNvPr id="12" name="Text 10"/>
          <p:cNvSpPr txBox="1"/>
          <p:nvPr/>
        </p:nvSpPr>
        <p:spPr>
          <a:xfrm>
            <a:off x="4612538"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5.2</a:t>
            </a:r>
            <a:endParaRPr lang="en-US" sz="1200" dirty="0"/>
          </a:p>
        </p:txBody>
      </p:sp>
      <p:sp>
        <p:nvSpPr>
          <p:cNvPr id="13" name="Text 11"/>
          <p:cNvSpPr txBox="1"/>
          <p:nvPr/>
        </p:nvSpPr>
        <p:spPr>
          <a:xfrm>
            <a:off x="5206898"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Investissements</a:t>
            </a:r>
            <a:endParaRPr lang="en-US" sz="1500" dirty="0"/>
          </a:p>
        </p:txBody>
      </p:sp>
      <p:sp>
        <p:nvSpPr>
          <p:cNvPr id="14" name="Text 12"/>
          <p:cNvSpPr txBox="1"/>
          <p:nvPr/>
        </p:nvSpPr>
        <p:spPr>
          <a:xfrm>
            <a:off x="4612538"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Financer des projets identifiés, avec un compte au nom de l’association, des comptes publiés et des projets documentés avant d’être financés.</a:t>
            </a:r>
            <a:endParaRPr lang="en-US" sz="1200" dirty="0"/>
          </a:p>
        </p:txBody>
      </p:sp>
      <p:sp>
        <p:nvSpPr>
          <p:cNvPr id="15" name="Shape 13"/>
          <p:cNvSpPr/>
          <p:nvPr/>
        </p:nvSpPr>
        <p:spPr>
          <a:xfrm>
            <a:off x="8127797" y="2148840"/>
            <a:ext cx="3515258" cy="3794760"/>
          </a:xfrm>
          <a:prstGeom prst="roundRect">
            <a:avLst>
              <a:gd name="adj" fmla="val 4162"/>
            </a:avLst>
          </a:prstGeom>
          <a:solidFill>
            <a:srgbClr val="F4F6F1"/>
          </a:solidFill>
          <a:ln w="9525">
            <a:solidFill>
              <a:srgbClr val="D5DDD6"/>
            </a:solidFill>
            <a:prstDash val="solid"/>
          </a:ln>
        </p:spPr>
      </p:sp>
      <p:sp>
        <p:nvSpPr>
          <p:cNvPr id="16" name="Shape 14"/>
          <p:cNvSpPr/>
          <p:nvPr/>
        </p:nvSpPr>
        <p:spPr>
          <a:xfrm>
            <a:off x="8402117" y="2423160"/>
            <a:ext cx="457200" cy="457200"/>
          </a:xfrm>
          <a:prstGeom prst="ellipse">
            <a:avLst/>
          </a:prstGeom>
          <a:solidFill>
            <a:srgbClr val="B6CF45"/>
          </a:solidFill>
          <a:ln w="12700">
            <a:solidFill>
              <a:srgbClr val="B6CF45"/>
            </a:solidFill>
            <a:prstDash val="solid"/>
          </a:ln>
        </p:spPr>
      </p:sp>
      <p:sp>
        <p:nvSpPr>
          <p:cNvPr id="17" name="Text 15"/>
          <p:cNvSpPr txBox="1"/>
          <p:nvPr/>
        </p:nvSpPr>
        <p:spPr>
          <a:xfrm>
            <a:off x="8402117"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5.3</a:t>
            </a:r>
            <a:endParaRPr lang="en-US" sz="1200" dirty="0"/>
          </a:p>
        </p:txBody>
      </p:sp>
      <p:sp>
        <p:nvSpPr>
          <p:cNvPr id="18" name="Text 16"/>
          <p:cNvSpPr txBox="1"/>
          <p:nvPr/>
        </p:nvSpPr>
        <p:spPr>
          <a:xfrm>
            <a:off x="8996477" y="2395728"/>
            <a:ext cx="2463698"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Mentorat</a:t>
            </a:r>
            <a:endParaRPr lang="en-US" sz="1500" dirty="0"/>
          </a:p>
        </p:txBody>
      </p:sp>
      <p:sp>
        <p:nvSpPr>
          <p:cNvPr id="19" name="Text 17"/>
          <p:cNvSpPr txBox="1"/>
          <p:nvPr/>
        </p:nvSpPr>
        <p:spPr>
          <a:xfrm>
            <a:off x="8402117" y="3108960"/>
            <a:ext cx="2966618"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200" dirty="0">
                <a:solidFill>
                  <a:srgbClr val="10241E"/>
                </a:solidFill>
                <a:latin typeface="DM Sans" pitchFamily="34" charset="0"/>
                <a:ea typeface="DM Sans" pitchFamily="34" charset="-122"/>
                <a:cs typeface="DM Sans" pitchFamily="34" charset="-120"/>
              </a:rPr>
              <a:t>Un jeune, une personne qui l’accompagne, un objectif : la forme la plus simple du lien entre Bédjondo et sa diaspora.</a:t>
            </a:r>
            <a:endParaRPr lang="en-US" sz="1200" dirty="0"/>
          </a:p>
        </p:txBody>
      </p:sp>
      <p:sp>
        <p:nvSpPr>
          <p:cNvPr id="20" name="Text 1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1" name="Text 19"/>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17 / 26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280160"/>
            <a:ext cx="3657600" cy="1463040"/>
          </a:xfrm>
          <a:prstGeom prst="rect">
            <a:avLst/>
          </a:prstGeom>
          <a:noFill/>
          <a:ln/>
        </p:spPr>
        <p:txBody>
          <a:bodyPr wrap="square" lIns="0" tIns="0" rIns="0" bIns="0" rtlCol="0" anchor="ctr"/>
          <a:lstStyle/>
          <a:p>
            <a:pPr indent="0" marL="0">
              <a:buNone/>
            </a:pPr>
            <a:r>
              <a:rPr lang="en-US" sz="9600" dirty="0">
                <a:solidFill>
                  <a:srgbClr val="F2C94C"/>
                </a:solidFill>
                <a:latin typeface="Playfair Display" pitchFamily="34" charset="0"/>
                <a:ea typeface="Playfair Display" pitchFamily="34" charset="-122"/>
                <a:cs typeface="Playfair Display" pitchFamily="34" charset="-120"/>
              </a:rPr>
              <a:t>06</a:t>
            </a:r>
            <a:endParaRPr lang="en-US" sz="9600" dirty="0"/>
          </a:p>
        </p:txBody>
      </p:sp>
      <p:sp>
        <p:nvSpPr>
          <p:cNvPr id="3" name="Text 1"/>
          <p:cNvSpPr txBox="1"/>
          <p:nvPr/>
        </p:nvSpPr>
        <p:spPr>
          <a:xfrm>
            <a:off x="548640" y="2926080"/>
            <a:ext cx="9144000" cy="1280160"/>
          </a:xfrm>
          <a:prstGeom prst="rect">
            <a:avLst/>
          </a:prstGeom>
          <a:noFill/>
          <a:ln/>
        </p:spPr>
        <p:txBody>
          <a:bodyPr wrap="square" lIns="0" tIns="0" rIns="0" bIns="0" rtlCol="0" anchor="ctr">
            <a:normAutofit/>
          </a:bodyPr>
          <a:lstStyle/>
          <a:p>
            <a:pPr indent="0" marL="0">
              <a:buNone/>
            </a:pPr>
            <a:r>
              <a:rPr lang="en-US" sz="4000" dirty="0">
                <a:solidFill>
                  <a:srgbClr val="FFFFFF"/>
                </a:solidFill>
                <a:latin typeface="Playfair Display" pitchFamily="34" charset="0"/>
                <a:ea typeface="Playfair Display" pitchFamily="34" charset="-122"/>
                <a:cs typeface="Playfair Display" pitchFamily="34" charset="-120"/>
              </a:rPr>
              <a:t>Économie sociale et revenus</a:t>
            </a:r>
            <a:endParaRPr lang="en-US" sz="4000" dirty="0"/>
          </a:p>
        </p:txBody>
      </p:sp>
      <p:sp>
        <p:nvSpPr>
          <p:cNvPr id="4" name="Text 2"/>
          <p:cNvSpPr txBox="1"/>
          <p:nvPr/>
        </p:nvSpPr>
        <p:spPr>
          <a:xfrm>
            <a:off x="548640" y="4297680"/>
            <a:ext cx="8686800" cy="1188720"/>
          </a:xfrm>
          <a:prstGeom prst="rect">
            <a:avLst/>
          </a:prstGeom>
          <a:noFill/>
          <a:ln/>
        </p:spPr>
        <p:txBody>
          <a:bodyPr wrap="square" lIns="0" tIns="0" rIns="0" bIns="0" rtlCol="0" anchor="ctr">
            <a:normAutofit/>
          </a:bodyPr>
          <a:lstStyle/>
          <a:p>
            <a:pPr indent="0" marL="0">
              <a:buNone/>
            </a:pPr>
            <a:r>
              <a:rPr lang="en-US" sz="1600" dirty="0">
                <a:solidFill>
                  <a:srgbClr val="DCE6DC"/>
                </a:solidFill>
                <a:latin typeface="DM Sans" pitchFamily="34" charset="0"/>
                <a:ea typeface="DM Sans" pitchFamily="34" charset="-122"/>
                <a:cs typeface="DM Sans" pitchFamily="34" charset="-120"/>
              </a:rPr>
              <a:t>Des activités qui rapportent, pour financer celles qui ne rapportent pas : le développement et le bien-être.</a:t>
            </a:r>
            <a:endParaRPr lang="en-US" sz="1600" dirty="0"/>
          </a:p>
        </p:txBody>
      </p:sp>
      <p:sp>
        <p:nvSpPr>
          <p:cNvPr id="5"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AAB9B0"/>
                </a:solidFill>
                <a:latin typeface="DM Sans" pitchFamily="34" charset="0"/>
                <a:ea typeface="DM Sans" pitchFamily="34" charset="-122"/>
                <a:cs typeface="DM Sans" pitchFamily="34" charset="-120"/>
              </a:rPr>
              <a:t>ODEB LONODJI · lonodji.org/odeb</a:t>
            </a:r>
            <a:endParaRPr lang="en-US" sz="900" dirty="0"/>
          </a:p>
        </p:txBody>
      </p:sp>
      <p:sp>
        <p:nvSpPr>
          <p:cNvPr id="6" name="Text 4"/>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AAB9B0"/>
                </a:solidFill>
                <a:latin typeface="DM Sans" pitchFamily="34" charset="0"/>
                <a:ea typeface="DM Sans" pitchFamily="34" charset="-122"/>
                <a:cs typeface="DM Sans" pitchFamily="34" charset="-120"/>
              </a:rPr>
              <a:t>18 / 26</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Économie sociale et revenus</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PROGRAMME 06 · QUATRE AXES</a:t>
            </a:r>
            <a:endParaRPr lang="en-US" sz="900" dirty="0"/>
          </a:p>
        </p:txBody>
      </p:sp>
      <p:sp>
        <p:nvSpPr>
          <p:cNvPr id="4" name="Text 2"/>
          <p:cNvSpPr txBox="1"/>
          <p:nvPr/>
        </p:nvSpPr>
        <p:spPr>
          <a:xfrm>
            <a:off x="548640" y="1508760"/>
            <a:ext cx="10881360" cy="548640"/>
          </a:xfrm>
          <a:prstGeom prst="rect">
            <a:avLst/>
          </a:prstGeom>
          <a:noFill/>
          <a:ln/>
        </p:spPr>
        <p:txBody>
          <a:bodyPr wrap="square" lIns="0" tIns="0" rIns="0" bIns="0" rtlCol="0" anchor="t">
            <a:normAutofit/>
          </a:bodyPr>
          <a:lstStyle/>
          <a:p>
            <a:pPr indent="0" marL="0">
              <a:buNone/>
            </a:pPr>
            <a:r>
              <a:rPr lang="en-US" sz="1250" dirty="0">
                <a:solidFill>
                  <a:srgbClr val="526159"/>
                </a:solidFill>
                <a:latin typeface="DM Sans" pitchFamily="34" charset="0"/>
                <a:ea typeface="DM Sans" pitchFamily="34" charset="-122"/>
                <a:cs typeface="DM Sans" pitchFamily="34" charset="-120"/>
              </a:rPr>
              <a:t>Le programme créerait, sous une forme juridique distincte de l’association, des entreprises dont les bénéfices, hors la part réinvestie, reviendraient aux projets de développement et de bien-être du pays bedjond. Il ne s’agit pas de gagner de l’argent pour lui-même, mais d’avoir des revenus propres et durables, pour que les projets ne dépendent plus seulement des cotisations et des dons. Quatre entreprises phares ont été proposées le 28 septembre 2026 — un complexe hôtelier à Bédjondo, un complexe scolaire avec internat à partir de la sixième, une société de transport et de logistique terrestres, et un centre hospitalier universitaire moderne avec tous ses services annexes, monté avec des partenaires financiers — et une dizaine d’autres activités sont proposées ici pour être étudiées. Rien n’est créé, ni étudié, ni financé à ce jour.</a:t>
            </a:r>
            <a:endParaRPr lang="en-US" sz="1250" dirty="0"/>
          </a:p>
        </p:txBody>
      </p:sp>
      <p:sp>
        <p:nvSpPr>
          <p:cNvPr id="5" name="Shape 3"/>
          <p:cNvSpPr/>
          <p:nvPr/>
        </p:nvSpPr>
        <p:spPr>
          <a:xfrm>
            <a:off x="548640" y="2148840"/>
            <a:ext cx="2567864" cy="3794760"/>
          </a:xfrm>
          <a:prstGeom prst="roundRect">
            <a:avLst>
              <a:gd name="adj" fmla="val 5697"/>
            </a:avLst>
          </a:prstGeom>
          <a:solidFill>
            <a:srgbClr val="F4F6F1"/>
          </a:solidFill>
          <a:ln w="9525">
            <a:solidFill>
              <a:srgbClr val="D5DDD6"/>
            </a:solidFill>
            <a:prstDash val="solid"/>
          </a:ln>
        </p:spPr>
      </p:sp>
      <p:sp>
        <p:nvSpPr>
          <p:cNvPr id="6" name="Shape 4"/>
          <p:cNvSpPr/>
          <p:nvPr/>
        </p:nvSpPr>
        <p:spPr>
          <a:xfrm>
            <a:off x="822960" y="2423160"/>
            <a:ext cx="457200" cy="457200"/>
          </a:xfrm>
          <a:prstGeom prst="ellipse">
            <a:avLst/>
          </a:prstGeom>
          <a:solidFill>
            <a:srgbClr val="B6CF45"/>
          </a:solidFill>
          <a:ln w="12700">
            <a:solidFill>
              <a:srgbClr val="B6CF45"/>
            </a:solidFill>
            <a:prstDash val="solid"/>
          </a:ln>
        </p:spPr>
      </p:sp>
      <p:sp>
        <p:nvSpPr>
          <p:cNvPr id="7" name="Text 5"/>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6.1</a:t>
            </a:r>
            <a:endParaRPr lang="en-US" sz="1200" dirty="0"/>
          </a:p>
        </p:txBody>
      </p:sp>
      <p:sp>
        <p:nvSpPr>
          <p:cNvPr id="8" name="Text 6"/>
          <p:cNvSpPr txBox="1"/>
          <p:nvPr/>
        </p:nvSpPr>
        <p:spPr>
          <a:xfrm>
            <a:off x="1417320" y="2395728"/>
            <a:ext cx="1516304"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Hôtellerie et accueil</a:t>
            </a:r>
            <a:endParaRPr lang="en-US" sz="1500" dirty="0"/>
          </a:p>
        </p:txBody>
      </p:sp>
      <p:sp>
        <p:nvSpPr>
          <p:cNvPr id="9" name="Text 7"/>
          <p:cNvSpPr txBox="1"/>
          <p:nvPr/>
        </p:nvSpPr>
        <p:spPr>
          <a:xfrm>
            <a:off x="822960" y="3108960"/>
            <a:ext cx="2019224"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100" dirty="0">
                <a:solidFill>
                  <a:srgbClr val="10241E"/>
                </a:solidFill>
                <a:latin typeface="DM Sans" pitchFamily="34" charset="0"/>
                <a:ea typeface="DM Sans" pitchFamily="34" charset="-122"/>
                <a:cs typeface="DM Sans" pitchFamily="34" charset="-120"/>
              </a:rPr>
              <a:t>Un complexe hôtelier à Bédjondo : chambres, restauration, salle de réunion et d’événements, pour les missions administratives et associatives, les commerçants, les visiteurs et la diaspora de passage. Ses bénéfices financeraient les projets.</a:t>
            </a:r>
            <a:endParaRPr lang="en-US" sz="1100" dirty="0"/>
          </a:p>
        </p:txBody>
      </p:sp>
      <p:sp>
        <p:nvSpPr>
          <p:cNvPr id="10" name="Shape 8"/>
          <p:cNvSpPr/>
          <p:nvPr/>
        </p:nvSpPr>
        <p:spPr>
          <a:xfrm>
            <a:off x="3390824" y="2148840"/>
            <a:ext cx="2567864" cy="3794760"/>
          </a:xfrm>
          <a:prstGeom prst="roundRect">
            <a:avLst>
              <a:gd name="adj" fmla="val 5697"/>
            </a:avLst>
          </a:prstGeom>
          <a:solidFill>
            <a:srgbClr val="F4F6F1"/>
          </a:solidFill>
          <a:ln w="9525">
            <a:solidFill>
              <a:srgbClr val="D5DDD6"/>
            </a:solidFill>
            <a:prstDash val="solid"/>
          </a:ln>
        </p:spPr>
      </p:sp>
      <p:sp>
        <p:nvSpPr>
          <p:cNvPr id="11" name="Shape 9"/>
          <p:cNvSpPr/>
          <p:nvPr/>
        </p:nvSpPr>
        <p:spPr>
          <a:xfrm>
            <a:off x="3665144" y="2423160"/>
            <a:ext cx="457200" cy="457200"/>
          </a:xfrm>
          <a:prstGeom prst="ellipse">
            <a:avLst/>
          </a:prstGeom>
          <a:solidFill>
            <a:srgbClr val="B6CF45"/>
          </a:solidFill>
          <a:ln w="12700">
            <a:solidFill>
              <a:srgbClr val="B6CF45"/>
            </a:solidFill>
            <a:prstDash val="solid"/>
          </a:ln>
        </p:spPr>
      </p:sp>
      <p:sp>
        <p:nvSpPr>
          <p:cNvPr id="12" name="Text 10"/>
          <p:cNvSpPr txBox="1"/>
          <p:nvPr/>
        </p:nvSpPr>
        <p:spPr>
          <a:xfrm>
            <a:off x="3665144"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6.2</a:t>
            </a:r>
            <a:endParaRPr lang="en-US" sz="1200" dirty="0"/>
          </a:p>
        </p:txBody>
      </p:sp>
      <p:sp>
        <p:nvSpPr>
          <p:cNvPr id="13" name="Text 11"/>
          <p:cNvSpPr txBox="1"/>
          <p:nvPr/>
        </p:nvSpPr>
        <p:spPr>
          <a:xfrm>
            <a:off x="4259504" y="2395728"/>
            <a:ext cx="1516304"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Éducation d’excellence</a:t>
            </a:r>
            <a:endParaRPr lang="en-US" sz="1500" dirty="0"/>
          </a:p>
        </p:txBody>
      </p:sp>
      <p:sp>
        <p:nvSpPr>
          <p:cNvPr id="14" name="Text 12"/>
          <p:cNvSpPr txBox="1"/>
          <p:nvPr/>
        </p:nvSpPr>
        <p:spPr>
          <a:xfrm>
            <a:off x="3665144" y="3108960"/>
            <a:ext cx="2019224"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100" dirty="0">
                <a:solidFill>
                  <a:srgbClr val="10241E"/>
                </a:solidFill>
                <a:latin typeface="DM Sans" pitchFamily="34" charset="0"/>
                <a:ea typeface="DM Sans" pitchFamily="34" charset="-122"/>
                <a:cs typeface="DM Sans" pitchFamily="34" charset="-120"/>
              </a:rPr>
              <a:t>Un complexe scolaire avec internat à partir de la sixième, pour former les futures élites du pays bedjond : collège puis lycée, exigeants, ouverts par des bourses aux élèves méritants sans moyens. Les frais de scolarité couvriraient les charges et dégageraient un excédent pour les projets.</a:t>
            </a:r>
            <a:endParaRPr lang="en-US" sz="1100" dirty="0"/>
          </a:p>
        </p:txBody>
      </p:sp>
      <p:sp>
        <p:nvSpPr>
          <p:cNvPr id="15" name="Shape 13"/>
          <p:cNvSpPr/>
          <p:nvPr/>
        </p:nvSpPr>
        <p:spPr>
          <a:xfrm>
            <a:off x="6233008" y="2148840"/>
            <a:ext cx="2567864" cy="3794760"/>
          </a:xfrm>
          <a:prstGeom prst="roundRect">
            <a:avLst>
              <a:gd name="adj" fmla="val 5697"/>
            </a:avLst>
          </a:prstGeom>
          <a:solidFill>
            <a:srgbClr val="F4F6F1"/>
          </a:solidFill>
          <a:ln w="9525">
            <a:solidFill>
              <a:srgbClr val="D5DDD6"/>
            </a:solidFill>
            <a:prstDash val="solid"/>
          </a:ln>
        </p:spPr>
      </p:sp>
      <p:sp>
        <p:nvSpPr>
          <p:cNvPr id="16" name="Shape 14"/>
          <p:cNvSpPr/>
          <p:nvPr/>
        </p:nvSpPr>
        <p:spPr>
          <a:xfrm>
            <a:off x="6507328" y="2423160"/>
            <a:ext cx="457200" cy="457200"/>
          </a:xfrm>
          <a:prstGeom prst="ellipse">
            <a:avLst/>
          </a:prstGeom>
          <a:solidFill>
            <a:srgbClr val="B6CF45"/>
          </a:solidFill>
          <a:ln w="12700">
            <a:solidFill>
              <a:srgbClr val="B6CF45"/>
            </a:solidFill>
            <a:prstDash val="solid"/>
          </a:ln>
        </p:spPr>
      </p:sp>
      <p:sp>
        <p:nvSpPr>
          <p:cNvPr id="17" name="Text 15"/>
          <p:cNvSpPr txBox="1"/>
          <p:nvPr/>
        </p:nvSpPr>
        <p:spPr>
          <a:xfrm>
            <a:off x="6507328"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6.3</a:t>
            </a:r>
            <a:endParaRPr lang="en-US" sz="1200" dirty="0"/>
          </a:p>
        </p:txBody>
      </p:sp>
      <p:sp>
        <p:nvSpPr>
          <p:cNvPr id="18" name="Text 16"/>
          <p:cNvSpPr txBox="1"/>
          <p:nvPr/>
        </p:nvSpPr>
        <p:spPr>
          <a:xfrm>
            <a:off x="7101688" y="2395728"/>
            <a:ext cx="1516304"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Transport et logistique terrestres</a:t>
            </a:r>
            <a:endParaRPr lang="en-US" sz="1500" dirty="0"/>
          </a:p>
        </p:txBody>
      </p:sp>
      <p:sp>
        <p:nvSpPr>
          <p:cNvPr id="19" name="Text 17"/>
          <p:cNvSpPr txBox="1"/>
          <p:nvPr/>
        </p:nvSpPr>
        <p:spPr>
          <a:xfrm>
            <a:off x="6507328" y="3108960"/>
            <a:ext cx="2019224"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100" dirty="0">
                <a:solidFill>
                  <a:srgbClr val="10241E"/>
                </a:solidFill>
                <a:latin typeface="DM Sans" pitchFamily="34" charset="0"/>
                <a:ea typeface="DM Sans" pitchFamily="34" charset="-122"/>
                <a:cs typeface="DM Sans" pitchFamily="34" charset="-120"/>
              </a:rPr>
              <a:t>Une société de transport de personnes et de marchandises reliant Bédjondo à ses cantons, à Koumra, Moundou et N’Djamena, avec une logistique agricole — collecte des récoltes, acheminement des intrants — là où les pistes le permettent.</a:t>
            </a:r>
            <a:endParaRPr lang="en-US" sz="1100" dirty="0"/>
          </a:p>
        </p:txBody>
      </p:sp>
      <p:sp>
        <p:nvSpPr>
          <p:cNvPr id="20" name="Shape 18"/>
          <p:cNvSpPr/>
          <p:nvPr/>
        </p:nvSpPr>
        <p:spPr>
          <a:xfrm>
            <a:off x="9075191" y="2148840"/>
            <a:ext cx="2567864" cy="3794760"/>
          </a:xfrm>
          <a:prstGeom prst="roundRect">
            <a:avLst>
              <a:gd name="adj" fmla="val 5697"/>
            </a:avLst>
          </a:prstGeom>
          <a:solidFill>
            <a:srgbClr val="F4F6F1"/>
          </a:solidFill>
          <a:ln w="9525">
            <a:solidFill>
              <a:srgbClr val="D5DDD6"/>
            </a:solidFill>
            <a:prstDash val="solid"/>
          </a:ln>
        </p:spPr>
      </p:sp>
      <p:sp>
        <p:nvSpPr>
          <p:cNvPr id="21" name="Shape 19"/>
          <p:cNvSpPr/>
          <p:nvPr/>
        </p:nvSpPr>
        <p:spPr>
          <a:xfrm>
            <a:off x="9349511" y="2423160"/>
            <a:ext cx="457200" cy="457200"/>
          </a:xfrm>
          <a:prstGeom prst="ellipse">
            <a:avLst/>
          </a:prstGeom>
          <a:solidFill>
            <a:srgbClr val="B6CF45"/>
          </a:solidFill>
          <a:ln w="12700">
            <a:solidFill>
              <a:srgbClr val="B6CF45"/>
            </a:solidFill>
            <a:prstDash val="solid"/>
          </a:ln>
        </p:spPr>
      </p:sp>
      <p:sp>
        <p:nvSpPr>
          <p:cNvPr id="22" name="Text 20"/>
          <p:cNvSpPr txBox="1"/>
          <p:nvPr/>
        </p:nvSpPr>
        <p:spPr>
          <a:xfrm>
            <a:off x="9349511" y="242316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6.4</a:t>
            </a:r>
            <a:endParaRPr lang="en-US" sz="1200" dirty="0"/>
          </a:p>
        </p:txBody>
      </p:sp>
      <p:sp>
        <p:nvSpPr>
          <p:cNvPr id="23" name="Text 21"/>
          <p:cNvSpPr txBox="1"/>
          <p:nvPr/>
        </p:nvSpPr>
        <p:spPr>
          <a:xfrm>
            <a:off x="9943871" y="2395728"/>
            <a:ext cx="1516304" cy="548640"/>
          </a:xfrm>
          <a:prstGeom prst="rect">
            <a:avLst/>
          </a:prstGeom>
          <a:noFill/>
          <a:ln/>
        </p:spPr>
        <p:txBody>
          <a:bodyPr wrap="square" lIns="0" tIns="0" rIns="0" bIns="0" rtlCol="0" anchor="ctr">
            <a:normAutofit/>
          </a:bodyPr>
          <a:lstStyle/>
          <a:p>
            <a:pPr indent="0" marL="0">
              <a:buNone/>
            </a:pPr>
            <a:r>
              <a:rPr lang="en-US" sz="1500" b="1" dirty="0">
                <a:solidFill>
                  <a:srgbClr val="173B2D"/>
                </a:solidFill>
                <a:latin typeface="DM Sans" pitchFamily="34" charset="0"/>
                <a:ea typeface="DM Sans" pitchFamily="34" charset="-122"/>
                <a:cs typeface="DM Sans" pitchFamily="34" charset="-120"/>
              </a:rPr>
              <a:t>Santé de dernière génération</a:t>
            </a:r>
            <a:endParaRPr lang="en-US" sz="1500" dirty="0"/>
          </a:p>
        </p:txBody>
      </p:sp>
      <p:sp>
        <p:nvSpPr>
          <p:cNvPr id="24" name="Text 22"/>
          <p:cNvSpPr txBox="1"/>
          <p:nvPr/>
        </p:nvSpPr>
        <p:spPr>
          <a:xfrm>
            <a:off x="9349511" y="3108960"/>
            <a:ext cx="2019224" cy="2560320"/>
          </a:xfrm>
          <a:prstGeom prst="rect">
            <a:avLst/>
          </a:prstGeom>
          <a:noFill/>
          <a:ln/>
        </p:spPr>
        <p:txBody>
          <a:bodyPr wrap="square" lIns="0" tIns="0" rIns="0" bIns="0" rtlCol="0" anchor="t">
            <a:normAutofit/>
          </a:bodyPr>
          <a:lstStyle/>
          <a:p>
            <a:pPr indent="0" marL="0">
              <a:lnSpc>
                <a:spcPct val="110000"/>
              </a:lnSpc>
              <a:spcAft>
                <a:spcPts val="800"/>
              </a:spcAft>
              <a:buNone/>
            </a:pPr>
            <a:r>
              <a:rPr lang="en-US" sz="1100" dirty="0">
                <a:solidFill>
                  <a:srgbClr val="10241E"/>
                </a:solidFill>
                <a:latin typeface="DM Sans" pitchFamily="34" charset="0"/>
                <a:ea typeface="DM Sans" pitchFamily="34" charset="-122"/>
                <a:cs typeface="DM Sans" pitchFamily="34" charset="-120"/>
              </a:rPr>
              <a:t>Un centre hospitalier universitaire moderne, monté avec des partenaires financiers, et tout ce qui fait un système de santé complet autour de lui : urgences, maternité, pédiatrie, chirurgie, imagerie, laboratoire, pharmacie centrale, dialyse, télémédecine avec les spécialistes de la diaspora, ambulances ; une école d’infirmiers et de sages-femmes et un partenariat universitaire pour former sur place ; les centres de santé des cantons reliés au CHU, un dossier médical numérique, l’énergie solaire, l’eau, les logements du personnel, une mutuelle de santé communautaire. Les soins payants des uns financeraient les soins gratuits des autres.</a:t>
            </a:r>
            <a:endParaRPr lang="en-US" sz="1100" dirty="0"/>
          </a:p>
        </p:txBody>
      </p:sp>
      <p:sp>
        <p:nvSpPr>
          <p:cNvPr id="25" name="Text 2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26" name="Text 24"/>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19 / 26</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Cinq règles du jeu, proposées à l’assemblée</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PROGRAMME 06 · À VOTER (1/2)</a:t>
            </a:r>
            <a:endParaRPr lang="en-US" sz="900" dirty="0"/>
          </a:p>
        </p:txBody>
      </p:sp>
      <p:sp>
        <p:nvSpPr>
          <p:cNvPr id="4" name="Shape 2"/>
          <p:cNvSpPr/>
          <p:nvPr/>
        </p:nvSpPr>
        <p:spPr>
          <a:xfrm>
            <a:off x="548640" y="1856232"/>
            <a:ext cx="457200" cy="457200"/>
          </a:xfrm>
          <a:prstGeom prst="ellipse">
            <a:avLst/>
          </a:prstGeom>
          <a:solidFill>
            <a:srgbClr val="B6CF45"/>
          </a:solidFill>
          <a:ln w="12700">
            <a:solidFill>
              <a:srgbClr val="B6CF45"/>
            </a:solidFill>
            <a:prstDash val="solid"/>
          </a:ln>
        </p:spPr>
      </p:sp>
      <p:sp>
        <p:nvSpPr>
          <p:cNvPr id="5" name="Text 3"/>
          <p:cNvSpPr txBox="1"/>
          <p:nvPr/>
        </p:nvSpPr>
        <p:spPr>
          <a:xfrm>
            <a:off x="548640" y="185623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1</a:t>
            </a:r>
            <a:endParaRPr lang="en-US" sz="1200" dirty="0"/>
          </a:p>
        </p:txBody>
      </p:sp>
      <p:sp>
        <p:nvSpPr>
          <p:cNvPr id="6" name="Text 4"/>
          <p:cNvSpPr txBox="1"/>
          <p:nvPr/>
        </p:nvSpPr>
        <p:spPr>
          <a:xfrm>
            <a:off x="1234440" y="1783080"/>
            <a:ext cx="3108960" cy="118872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Une société, pas l’association</a:t>
            </a:r>
            <a:endParaRPr lang="en-US" sz="1400" dirty="0"/>
          </a:p>
        </p:txBody>
      </p:sp>
      <p:sp>
        <p:nvSpPr>
          <p:cNvPr id="7" name="Text 5"/>
          <p:cNvSpPr txBox="1"/>
          <p:nvPr/>
        </p:nvSpPr>
        <p:spPr>
          <a:xfrm>
            <a:off x="4480560" y="1783080"/>
            <a:ext cx="7132320" cy="118872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Une association ne partage pas de bénéfices et ne doit pas mêler ses comptes à ceux d’un commerce. Les activités seraient portées par une société distincte — société commerciale ou société coopérative du droit OHADA, qui s’applique au Tchad — détenue par l’association (demain par l’ODEB), dont les statuts affectent les bénéfices aux projets. Ni dividendes ni parts pour les membres.</a:t>
            </a:r>
            <a:endParaRPr lang="en-US" sz="1250" dirty="0"/>
          </a:p>
        </p:txBody>
      </p:sp>
      <p:sp>
        <p:nvSpPr>
          <p:cNvPr id="8" name="Shape 6"/>
          <p:cNvSpPr/>
          <p:nvPr/>
        </p:nvSpPr>
        <p:spPr>
          <a:xfrm>
            <a:off x="1234440" y="3035808"/>
            <a:ext cx="10378440" cy="0"/>
          </a:xfrm>
          <a:prstGeom prst="line">
            <a:avLst/>
          </a:prstGeom>
          <a:noFill/>
          <a:ln w="9525">
            <a:solidFill>
              <a:srgbClr val="D5DDD6"/>
            </a:solidFill>
            <a:prstDash val="solid"/>
          </a:ln>
        </p:spPr>
      </p:sp>
      <p:sp>
        <p:nvSpPr>
          <p:cNvPr id="9" name="Shape 7"/>
          <p:cNvSpPr/>
          <p:nvPr/>
        </p:nvSpPr>
        <p:spPr>
          <a:xfrm>
            <a:off x="548640" y="3182112"/>
            <a:ext cx="457200" cy="457200"/>
          </a:xfrm>
          <a:prstGeom prst="ellipse">
            <a:avLst/>
          </a:prstGeom>
          <a:solidFill>
            <a:srgbClr val="B6CF45"/>
          </a:solidFill>
          <a:ln w="12700">
            <a:solidFill>
              <a:srgbClr val="B6CF45"/>
            </a:solidFill>
            <a:prstDash val="solid"/>
          </a:ln>
        </p:spPr>
      </p:sp>
      <p:sp>
        <p:nvSpPr>
          <p:cNvPr id="10" name="Text 8"/>
          <p:cNvSpPr txBox="1"/>
          <p:nvPr/>
        </p:nvSpPr>
        <p:spPr>
          <a:xfrm>
            <a:off x="548640" y="318211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2</a:t>
            </a:r>
            <a:endParaRPr lang="en-US" sz="1200" dirty="0"/>
          </a:p>
        </p:txBody>
      </p:sp>
      <p:sp>
        <p:nvSpPr>
          <p:cNvPr id="11" name="Text 9"/>
          <p:cNvSpPr txBox="1"/>
          <p:nvPr/>
        </p:nvSpPr>
        <p:spPr>
          <a:xfrm>
            <a:off x="1234440" y="3108960"/>
            <a:ext cx="3108960" cy="118872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Les bénéfices vont aux projets, et on le voit</a:t>
            </a:r>
            <a:endParaRPr lang="en-US" sz="1400" dirty="0"/>
          </a:p>
        </p:txBody>
      </p:sp>
      <p:sp>
        <p:nvSpPr>
          <p:cNvPr id="12" name="Text 10"/>
          <p:cNvSpPr txBox="1"/>
          <p:nvPr/>
        </p:nvSpPr>
        <p:spPr>
          <a:xfrm>
            <a:off x="4480560" y="3108960"/>
            <a:ext cx="7132320" cy="118872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Chaque entreprise tient ses propres comptes et les publie chaque année ; le tableau de suivi du site montre ce qu’elle a versé au fonds des projets de développement et de bien-être. Proposition à trancher par l’assemblée : une part réinvestie dans l’entreprise, le reste versé au fonds — par exemple un tiers et deux tiers.</a:t>
            </a:r>
            <a:endParaRPr lang="en-US" sz="1250" dirty="0"/>
          </a:p>
        </p:txBody>
      </p:sp>
      <p:sp>
        <p:nvSpPr>
          <p:cNvPr id="13" name="Shape 11"/>
          <p:cNvSpPr/>
          <p:nvPr/>
        </p:nvSpPr>
        <p:spPr>
          <a:xfrm>
            <a:off x="1234440" y="4361688"/>
            <a:ext cx="10378440" cy="0"/>
          </a:xfrm>
          <a:prstGeom prst="line">
            <a:avLst/>
          </a:prstGeom>
          <a:noFill/>
          <a:ln w="9525">
            <a:solidFill>
              <a:srgbClr val="D5DDD6"/>
            </a:solidFill>
            <a:prstDash val="solid"/>
          </a:ln>
        </p:spPr>
      </p:sp>
      <p:sp>
        <p:nvSpPr>
          <p:cNvPr id="14" name="Shape 12"/>
          <p:cNvSpPr/>
          <p:nvPr/>
        </p:nvSpPr>
        <p:spPr>
          <a:xfrm>
            <a:off x="548640" y="4507992"/>
            <a:ext cx="457200" cy="457200"/>
          </a:xfrm>
          <a:prstGeom prst="ellipse">
            <a:avLst/>
          </a:prstGeom>
          <a:solidFill>
            <a:srgbClr val="B6CF45"/>
          </a:solidFill>
          <a:ln w="12700">
            <a:solidFill>
              <a:srgbClr val="B6CF45"/>
            </a:solidFill>
            <a:prstDash val="solid"/>
          </a:ln>
        </p:spPr>
      </p:sp>
      <p:sp>
        <p:nvSpPr>
          <p:cNvPr id="15" name="Text 13"/>
          <p:cNvSpPr txBox="1"/>
          <p:nvPr/>
        </p:nvSpPr>
        <p:spPr>
          <a:xfrm>
            <a:off x="548640" y="450799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3</a:t>
            </a:r>
            <a:endParaRPr lang="en-US" sz="1200" dirty="0"/>
          </a:p>
        </p:txBody>
      </p:sp>
      <p:sp>
        <p:nvSpPr>
          <p:cNvPr id="16" name="Text 14"/>
          <p:cNvSpPr txBox="1"/>
          <p:nvPr/>
        </p:nvSpPr>
        <p:spPr>
          <a:xfrm>
            <a:off x="1234440" y="4434840"/>
            <a:ext cx="3108960" cy="118872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Ce qui manque à Bédjondo, pas ce qui y existe déjà</a:t>
            </a:r>
            <a:endParaRPr lang="en-US" sz="1400" dirty="0"/>
          </a:p>
        </p:txBody>
      </p:sp>
      <p:sp>
        <p:nvSpPr>
          <p:cNvPr id="17" name="Text 15"/>
          <p:cNvSpPr txBox="1"/>
          <p:nvPr/>
        </p:nvSpPr>
        <p:spPr>
          <a:xfrm>
            <a:off x="4480560" y="4434840"/>
            <a:ext cx="7132320" cy="118872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Les entreprises visent ce qui n’existe pas ou ce qui manque de qualité ; elles ne viennent pas écraser les commerçants et les transporteurs du pays bedjond, elles travaillent avec eux. Emploi local et achats locaux d’abord ; les prix restent ceux du marché.</a:t>
            </a:r>
            <a:endParaRPr lang="en-US" sz="1250" dirty="0"/>
          </a:p>
        </p:txBody>
      </p:sp>
      <p:sp>
        <p:nvSpPr>
          <p:cNvPr id="18" name="Text 16"/>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19" name="Text 17"/>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20 / 26</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Cinq règles du jeu, proposées à l’assemblée</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PROGRAMME 06 · À VOTER (2/2)</a:t>
            </a:r>
            <a:endParaRPr lang="en-US" sz="900" dirty="0"/>
          </a:p>
        </p:txBody>
      </p:sp>
      <p:sp>
        <p:nvSpPr>
          <p:cNvPr id="4" name="Shape 2"/>
          <p:cNvSpPr/>
          <p:nvPr/>
        </p:nvSpPr>
        <p:spPr>
          <a:xfrm>
            <a:off x="548640" y="1856232"/>
            <a:ext cx="457200" cy="457200"/>
          </a:xfrm>
          <a:prstGeom prst="ellipse">
            <a:avLst/>
          </a:prstGeom>
          <a:solidFill>
            <a:srgbClr val="B6CF45"/>
          </a:solidFill>
          <a:ln w="12700">
            <a:solidFill>
              <a:srgbClr val="B6CF45"/>
            </a:solidFill>
            <a:prstDash val="solid"/>
          </a:ln>
        </p:spPr>
      </p:sp>
      <p:sp>
        <p:nvSpPr>
          <p:cNvPr id="5" name="Text 3"/>
          <p:cNvSpPr txBox="1"/>
          <p:nvPr/>
        </p:nvSpPr>
        <p:spPr>
          <a:xfrm>
            <a:off x="548640" y="185623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4</a:t>
            </a:r>
            <a:endParaRPr lang="en-US" sz="1200" dirty="0"/>
          </a:p>
        </p:txBody>
      </p:sp>
      <p:sp>
        <p:nvSpPr>
          <p:cNvPr id="6" name="Text 4"/>
          <p:cNvSpPr txBox="1"/>
          <p:nvPr/>
        </p:nvSpPr>
        <p:spPr>
          <a:xfrm>
            <a:off x="1234440" y="1783080"/>
            <a:ext cx="3108960" cy="118872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De l’argent propre, sans promesse de rendement</a:t>
            </a:r>
            <a:endParaRPr lang="en-US" sz="1400" dirty="0"/>
          </a:p>
        </p:txBody>
      </p:sp>
      <p:sp>
        <p:nvSpPr>
          <p:cNvPr id="7" name="Text 5"/>
          <p:cNvSpPr txBox="1"/>
          <p:nvPr/>
        </p:nvSpPr>
        <p:spPr>
          <a:xfrm>
            <a:off x="4480560" y="1783080"/>
            <a:ext cx="7132320" cy="118872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Le capital viendrait des membres et de la diaspora sous forme de parts sans dividende, de partenaires et de prêts ; aucune collecte avant le compte bancaire au nom de l’association et la création de la société, aucune promesse de gain à quiconque. Un audit indépendant à partir de la deuxième année.</a:t>
            </a:r>
            <a:endParaRPr lang="en-US" sz="1250" dirty="0"/>
          </a:p>
        </p:txBody>
      </p:sp>
      <p:sp>
        <p:nvSpPr>
          <p:cNvPr id="8" name="Shape 6"/>
          <p:cNvSpPr/>
          <p:nvPr/>
        </p:nvSpPr>
        <p:spPr>
          <a:xfrm>
            <a:off x="1234440" y="3035808"/>
            <a:ext cx="10378440" cy="0"/>
          </a:xfrm>
          <a:prstGeom prst="line">
            <a:avLst/>
          </a:prstGeom>
          <a:noFill/>
          <a:ln w="9525">
            <a:solidFill>
              <a:srgbClr val="D5DDD6"/>
            </a:solidFill>
            <a:prstDash val="solid"/>
          </a:ln>
        </p:spPr>
      </p:sp>
      <p:sp>
        <p:nvSpPr>
          <p:cNvPr id="9" name="Shape 7"/>
          <p:cNvSpPr/>
          <p:nvPr/>
        </p:nvSpPr>
        <p:spPr>
          <a:xfrm>
            <a:off x="548640" y="3182112"/>
            <a:ext cx="457200" cy="457200"/>
          </a:xfrm>
          <a:prstGeom prst="ellipse">
            <a:avLst/>
          </a:prstGeom>
          <a:solidFill>
            <a:srgbClr val="B6CF45"/>
          </a:solidFill>
          <a:ln w="12700">
            <a:solidFill>
              <a:srgbClr val="B6CF45"/>
            </a:solidFill>
            <a:prstDash val="solid"/>
          </a:ln>
        </p:spPr>
      </p:sp>
      <p:sp>
        <p:nvSpPr>
          <p:cNvPr id="10" name="Text 8"/>
          <p:cNvSpPr txBox="1"/>
          <p:nvPr/>
        </p:nvSpPr>
        <p:spPr>
          <a:xfrm>
            <a:off x="548640" y="318211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5</a:t>
            </a:r>
            <a:endParaRPr lang="en-US" sz="1200" dirty="0"/>
          </a:p>
        </p:txBody>
      </p:sp>
      <p:sp>
        <p:nvSpPr>
          <p:cNvPr id="11" name="Text 9"/>
          <p:cNvSpPr txBox="1"/>
          <p:nvPr/>
        </p:nvSpPr>
        <p:spPr>
          <a:xfrm>
            <a:off x="1234440" y="3108960"/>
            <a:ext cx="3108960" cy="118872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Une entreprise à la fois</a:t>
            </a:r>
            <a:endParaRPr lang="en-US" sz="1400" dirty="0"/>
          </a:p>
        </p:txBody>
      </p:sp>
      <p:sp>
        <p:nvSpPr>
          <p:cNvPr id="12" name="Text 10"/>
          <p:cNvSpPr txBox="1"/>
          <p:nvPr/>
        </p:nvSpPr>
        <p:spPr>
          <a:xfrm>
            <a:off x="4480560" y="3108960"/>
            <a:ext cx="7132320" cy="118872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On commence par celle dont la clientèle est la plus sûre et le capital le plus faible, on la fait tourner un an, on publie ses comptes, puis on lance la suivante. Chaque activité passe par la plateforme de projets, avec son stade : idée, étude, annonce, souscription, financée, réalisation, essai, en service.</a:t>
            </a:r>
            <a:endParaRPr lang="en-US" sz="1250" dirty="0"/>
          </a:p>
        </p:txBody>
      </p:sp>
      <p:sp>
        <p:nvSpPr>
          <p:cNvPr id="13" name="Text 11"/>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14" name="Text 12"/>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21 / 26</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Des pistes, pas des promesses</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PROGRAMME 06 · PORTEFEUILLE</a:t>
            </a:r>
            <a:endParaRPr lang="en-US" sz="900" dirty="0"/>
          </a:p>
        </p:txBody>
      </p:sp>
      <p:sp>
        <p:nvSpPr>
          <p:cNvPr id="4" name="Shape 2"/>
          <p:cNvSpPr/>
          <p:nvPr/>
        </p:nvSpPr>
        <p:spPr>
          <a:xfrm>
            <a:off x="548640" y="1828800"/>
            <a:ext cx="3515258" cy="2926080"/>
          </a:xfrm>
          <a:prstGeom prst="roundRect">
            <a:avLst>
              <a:gd name="adj" fmla="val 5000"/>
            </a:avLst>
          </a:prstGeom>
          <a:solidFill>
            <a:srgbClr val="F4F6F1"/>
          </a:solidFill>
          <a:ln w="9525">
            <a:solidFill>
              <a:srgbClr val="D5DDD6"/>
            </a:solidFill>
            <a:prstDash val="solid"/>
          </a:ln>
        </p:spPr>
      </p:sp>
      <p:sp>
        <p:nvSpPr>
          <p:cNvPr id="5" name="Text 3"/>
          <p:cNvSpPr txBox="1"/>
          <p:nvPr/>
        </p:nvSpPr>
        <p:spPr>
          <a:xfrm>
            <a:off x="822960" y="2103120"/>
            <a:ext cx="2966618" cy="1280160"/>
          </a:xfrm>
          <a:prstGeom prst="rect">
            <a:avLst/>
          </a:prstGeom>
          <a:noFill/>
          <a:ln/>
        </p:spPr>
        <p:txBody>
          <a:bodyPr wrap="square" lIns="0" tIns="0" rIns="0" bIns="0" rtlCol="0" anchor="ctr">
            <a:normAutofit/>
          </a:bodyPr>
          <a:lstStyle/>
          <a:p>
            <a:pPr indent="0" marL="0">
              <a:buNone/>
            </a:pPr>
            <a:r>
              <a:rPr lang="en-US" sz="5400" dirty="0">
                <a:solidFill>
                  <a:srgbClr val="173B2D"/>
                </a:solidFill>
                <a:latin typeface="Playfair Display" pitchFamily="34" charset="0"/>
                <a:ea typeface="Playfair Display" pitchFamily="34" charset="-122"/>
                <a:cs typeface="Playfair Display" pitchFamily="34" charset="-120"/>
              </a:rPr>
              <a:t>4</a:t>
            </a:r>
            <a:endParaRPr lang="en-US" sz="5400" dirty="0"/>
          </a:p>
        </p:txBody>
      </p:sp>
      <p:sp>
        <p:nvSpPr>
          <p:cNvPr id="6" name="Text 4"/>
          <p:cNvSpPr txBox="1"/>
          <p:nvPr/>
        </p:nvSpPr>
        <p:spPr>
          <a:xfrm>
            <a:off x="822960" y="3429000"/>
            <a:ext cx="2966618" cy="457200"/>
          </a:xfrm>
          <a:prstGeom prst="rect">
            <a:avLst/>
          </a:prstGeom>
          <a:noFill/>
          <a:ln/>
        </p:spPr>
        <p:txBody>
          <a:bodyPr wrap="square" lIns="0" tIns="0" rIns="0" bIns="0" rtlCol="0" anchor="ctr">
            <a:normAutofit/>
          </a:bodyPr>
          <a:lstStyle/>
          <a:p>
            <a:pPr indent="0" marL="0">
              <a:buNone/>
            </a:pPr>
            <a:r>
              <a:rPr lang="en-US" sz="1400" b="1" dirty="0">
                <a:solidFill>
                  <a:srgbClr val="10241E"/>
                </a:solidFill>
                <a:latin typeface="DM Sans" pitchFamily="34" charset="0"/>
                <a:ea typeface="DM Sans" pitchFamily="34" charset="-122"/>
                <a:cs typeface="DM Sans" pitchFamily="34" charset="-120"/>
              </a:rPr>
              <a:t>entreprises phares</a:t>
            </a:r>
            <a:endParaRPr lang="en-US" sz="1400" dirty="0"/>
          </a:p>
        </p:txBody>
      </p:sp>
      <p:sp>
        <p:nvSpPr>
          <p:cNvPr id="7" name="Text 5"/>
          <p:cNvSpPr txBox="1"/>
          <p:nvPr/>
        </p:nvSpPr>
        <p:spPr>
          <a:xfrm>
            <a:off x="822960" y="3886200"/>
            <a:ext cx="2966618" cy="731520"/>
          </a:xfrm>
          <a:prstGeom prst="rect">
            <a:avLst/>
          </a:prstGeom>
          <a:noFill/>
          <a:ln/>
        </p:spPr>
        <p:txBody>
          <a:bodyPr wrap="square" lIns="0" tIns="0" rIns="0" bIns="0" rtlCol="0" anchor="ctr">
            <a:normAutofit/>
          </a:bodyPr>
          <a:lstStyle/>
          <a:p>
            <a:pPr indent="0" marL="0">
              <a:buNone/>
            </a:pPr>
            <a:r>
              <a:rPr lang="en-US" sz="1100" dirty="0">
                <a:solidFill>
                  <a:srgbClr val="526159"/>
                </a:solidFill>
                <a:latin typeface="DM Sans" pitchFamily="34" charset="0"/>
                <a:ea typeface="DM Sans" pitchFamily="34" charset="-122"/>
                <a:cs typeface="DM Sans" pitchFamily="34" charset="-120"/>
              </a:rPr>
              <a:t>Hôtellerie et accueil · Éducation d’excellence · Transport et logistique terrestres · Santé de dernière génération</a:t>
            </a:r>
            <a:endParaRPr lang="en-US" sz="1100" dirty="0"/>
          </a:p>
        </p:txBody>
      </p:sp>
      <p:sp>
        <p:nvSpPr>
          <p:cNvPr id="8" name="Shape 6"/>
          <p:cNvSpPr/>
          <p:nvPr/>
        </p:nvSpPr>
        <p:spPr>
          <a:xfrm>
            <a:off x="4338218" y="1828800"/>
            <a:ext cx="3515258" cy="2926080"/>
          </a:xfrm>
          <a:prstGeom prst="roundRect">
            <a:avLst>
              <a:gd name="adj" fmla="val 5000"/>
            </a:avLst>
          </a:prstGeom>
          <a:solidFill>
            <a:srgbClr val="F4F6F1"/>
          </a:solidFill>
          <a:ln w="9525">
            <a:solidFill>
              <a:srgbClr val="D5DDD6"/>
            </a:solidFill>
            <a:prstDash val="solid"/>
          </a:ln>
        </p:spPr>
      </p:sp>
      <p:sp>
        <p:nvSpPr>
          <p:cNvPr id="9" name="Text 7"/>
          <p:cNvSpPr txBox="1"/>
          <p:nvPr/>
        </p:nvSpPr>
        <p:spPr>
          <a:xfrm>
            <a:off x="4612538" y="2103120"/>
            <a:ext cx="2966618" cy="1280160"/>
          </a:xfrm>
          <a:prstGeom prst="rect">
            <a:avLst/>
          </a:prstGeom>
          <a:noFill/>
          <a:ln/>
        </p:spPr>
        <p:txBody>
          <a:bodyPr wrap="square" lIns="0" tIns="0" rIns="0" bIns="0" rtlCol="0" anchor="ctr">
            <a:normAutofit/>
          </a:bodyPr>
          <a:lstStyle/>
          <a:p>
            <a:pPr indent="0" marL="0">
              <a:buNone/>
            </a:pPr>
            <a:r>
              <a:rPr lang="en-US" sz="5400" dirty="0">
                <a:solidFill>
                  <a:srgbClr val="173B2D"/>
                </a:solidFill>
                <a:latin typeface="Playfair Display" pitchFamily="34" charset="0"/>
                <a:ea typeface="Playfair Display" pitchFamily="34" charset="-122"/>
                <a:cs typeface="Playfair Display" pitchFamily="34" charset="-120"/>
              </a:rPr>
              <a:t>11</a:t>
            </a:r>
            <a:endParaRPr lang="en-US" sz="5400" dirty="0"/>
          </a:p>
        </p:txBody>
      </p:sp>
      <p:sp>
        <p:nvSpPr>
          <p:cNvPr id="10" name="Text 8"/>
          <p:cNvSpPr txBox="1"/>
          <p:nvPr/>
        </p:nvSpPr>
        <p:spPr>
          <a:xfrm>
            <a:off x="4612538" y="3429000"/>
            <a:ext cx="2966618" cy="457200"/>
          </a:xfrm>
          <a:prstGeom prst="rect">
            <a:avLst/>
          </a:prstGeom>
          <a:noFill/>
          <a:ln/>
        </p:spPr>
        <p:txBody>
          <a:bodyPr wrap="square" lIns="0" tIns="0" rIns="0" bIns="0" rtlCol="0" anchor="ctr">
            <a:normAutofit/>
          </a:bodyPr>
          <a:lstStyle/>
          <a:p>
            <a:pPr indent="0" marL="0">
              <a:buNone/>
            </a:pPr>
            <a:r>
              <a:rPr lang="en-US" sz="1400" b="1" dirty="0">
                <a:solidFill>
                  <a:srgbClr val="10241E"/>
                </a:solidFill>
                <a:latin typeface="DM Sans" pitchFamily="34" charset="0"/>
                <a:ea typeface="DM Sans" pitchFamily="34" charset="-122"/>
                <a:cs typeface="DM Sans" pitchFamily="34" charset="-120"/>
              </a:rPr>
              <a:t>activités de plus, à étudier</a:t>
            </a:r>
            <a:endParaRPr lang="en-US" sz="1400" dirty="0"/>
          </a:p>
        </p:txBody>
      </p:sp>
      <p:sp>
        <p:nvSpPr>
          <p:cNvPr id="11" name="Text 9"/>
          <p:cNvSpPr txBox="1"/>
          <p:nvPr/>
        </p:nvSpPr>
        <p:spPr>
          <a:xfrm>
            <a:off x="4612538" y="3886200"/>
            <a:ext cx="2966618" cy="731520"/>
          </a:xfrm>
          <a:prstGeom prst="rect">
            <a:avLst/>
          </a:prstGeom>
          <a:noFill/>
          <a:ln/>
        </p:spPr>
        <p:txBody>
          <a:bodyPr wrap="square" lIns="0" tIns="0" rIns="0" bIns="0" rtlCol="0" anchor="ctr">
            <a:normAutofit/>
          </a:bodyPr>
          <a:lstStyle/>
          <a:p>
            <a:pPr indent="0" marL="0">
              <a:buNone/>
            </a:pPr>
            <a:r>
              <a:rPr lang="en-US" sz="1100" dirty="0">
                <a:solidFill>
                  <a:srgbClr val="526159"/>
                </a:solidFill>
                <a:latin typeface="DM Sans" pitchFamily="34" charset="0"/>
                <a:ea typeface="DM Sans" pitchFamily="34" charset="-122"/>
                <a:cs typeface="DM Sans" pitchFamily="34" charset="-120"/>
              </a:rPr>
              <a:t>aucune décidée, rien n’est chiffré</a:t>
            </a:r>
            <a:endParaRPr lang="en-US" sz="1100" dirty="0"/>
          </a:p>
        </p:txBody>
      </p:sp>
      <p:sp>
        <p:nvSpPr>
          <p:cNvPr id="12" name="Shape 10"/>
          <p:cNvSpPr/>
          <p:nvPr/>
        </p:nvSpPr>
        <p:spPr>
          <a:xfrm>
            <a:off x="8127797" y="1828800"/>
            <a:ext cx="3515258" cy="2926080"/>
          </a:xfrm>
          <a:prstGeom prst="roundRect">
            <a:avLst>
              <a:gd name="adj" fmla="val 5000"/>
            </a:avLst>
          </a:prstGeom>
          <a:solidFill>
            <a:srgbClr val="F4F6F1"/>
          </a:solidFill>
          <a:ln w="9525">
            <a:solidFill>
              <a:srgbClr val="D5DDD6"/>
            </a:solidFill>
            <a:prstDash val="solid"/>
          </a:ln>
        </p:spPr>
      </p:sp>
      <p:sp>
        <p:nvSpPr>
          <p:cNvPr id="13" name="Text 11"/>
          <p:cNvSpPr txBox="1"/>
          <p:nvPr/>
        </p:nvSpPr>
        <p:spPr>
          <a:xfrm>
            <a:off x="8402117" y="2103120"/>
            <a:ext cx="2966618" cy="1280160"/>
          </a:xfrm>
          <a:prstGeom prst="rect">
            <a:avLst/>
          </a:prstGeom>
          <a:noFill/>
          <a:ln/>
        </p:spPr>
        <p:txBody>
          <a:bodyPr wrap="square" lIns="0" tIns="0" rIns="0" bIns="0" rtlCol="0" anchor="ctr">
            <a:normAutofit/>
          </a:bodyPr>
          <a:lstStyle/>
          <a:p>
            <a:pPr indent="0" marL="0">
              <a:buNone/>
            </a:pPr>
            <a:r>
              <a:rPr lang="en-US" sz="5400" dirty="0">
                <a:solidFill>
                  <a:srgbClr val="173B2D"/>
                </a:solidFill>
                <a:latin typeface="Playfair Display" pitchFamily="34" charset="0"/>
                <a:ea typeface="Playfair Display" pitchFamily="34" charset="-122"/>
                <a:cs typeface="Playfair Display" pitchFamily="34" charset="-120"/>
              </a:rPr>
              <a:t>3</a:t>
            </a:r>
            <a:endParaRPr lang="en-US" sz="5400" dirty="0"/>
          </a:p>
        </p:txBody>
      </p:sp>
      <p:sp>
        <p:nvSpPr>
          <p:cNvPr id="14" name="Text 12"/>
          <p:cNvSpPr txBox="1"/>
          <p:nvPr/>
        </p:nvSpPr>
        <p:spPr>
          <a:xfrm>
            <a:off x="8402117" y="3429000"/>
            <a:ext cx="2966618" cy="457200"/>
          </a:xfrm>
          <a:prstGeom prst="rect">
            <a:avLst/>
          </a:prstGeom>
          <a:noFill/>
          <a:ln/>
        </p:spPr>
        <p:txBody>
          <a:bodyPr wrap="square" lIns="0" tIns="0" rIns="0" bIns="0" rtlCol="0" anchor="ctr">
            <a:normAutofit/>
          </a:bodyPr>
          <a:lstStyle/>
          <a:p>
            <a:pPr indent="0" marL="0">
              <a:buNone/>
            </a:pPr>
            <a:r>
              <a:rPr lang="en-US" sz="1400" b="1" dirty="0">
                <a:solidFill>
                  <a:srgbClr val="10241E"/>
                </a:solidFill>
                <a:latin typeface="DM Sans" pitchFamily="34" charset="0"/>
                <a:ea typeface="DM Sans" pitchFamily="34" charset="-122"/>
                <a:cs typeface="DM Sans" pitchFamily="34" charset="-120"/>
              </a:rPr>
              <a:t>idées sur la plateforme de projets</a:t>
            </a:r>
            <a:endParaRPr lang="en-US" sz="1400" dirty="0"/>
          </a:p>
        </p:txBody>
      </p:sp>
      <p:sp>
        <p:nvSpPr>
          <p:cNvPr id="15" name="Text 13"/>
          <p:cNvSpPr txBox="1"/>
          <p:nvPr/>
        </p:nvSpPr>
        <p:spPr>
          <a:xfrm>
            <a:off x="8402117" y="3886200"/>
            <a:ext cx="2966618" cy="731520"/>
          </a:xfrm>
          <a:prstGeom prst="rect">
            <a:avLst/>
          </a:prstGeom>
          <a:noFill/>
          <a:ln/>
        </p:spPr>
        <p:txBody>
          <a:bodyPr wrap="square" lIns="0" tIns="0" rIns="0" bIns="0" rtlCol="0" anchor="ctr">
            <a:normAutofit/>
          </a:bodyPr>
          <a:lstStyle/>
          <a:p>
            <a:pPr indent="0" marL="0">
              <a:buNone/>
            </a:pPr>
            <a:r>
              <a:rPr lang="en-US" sz="1100" dirty="0">
                <a:solidFill>
                  <a:srgbClr val="526159"/>
                </a:solidFill>
                <a:latin typeface="DM Sans" pitchFamily="34" charset="0"/>
                <a:ea typeface="DM Sans" pitchFamily="34" charset="-122"/>
                <a:cs typeface="DM Sans" pitchFamily="34" charset="-120"/>
              </a:rPr>
              <a:t>au stade « idée » : ni étude, ni budget, ni calendrier</a:t>
            </a:r>
            <a:endParaRPr lang="en-US" sz="1100" dirty="0"/>
          </a:p>
        </p:txBody>
      </p:sp>
      <p:sp>
        <p:nvSpPr>
          <p:cNvPr id="16" name="Text 14"/>
          <p:cNvSpPr txBox="1"/>
          <p:nvPr/>
        </p:nvSpPr>
        <p:spPr>
          <a:xfrm>
            <a:off x="548640" y="5029200"/>
            <a:ext cx="10881360" cy="731520"/>
          </a:xfrm>
          <a:prstGeom prst="rect">
            <a:avLst/>
          </a:prstGeom>
          <a:noFill/>
          <a:ln/>
        </p:spPr>
        <p:txBody>
          <a:bodyPr wrap="square" lIns="0" tIns="0" rIns="0" bIns="0" rtlCol="0" anchor="ctr">
            <a:normAutofit/>
          </a:bodyPr>
          <a:lstStyle/>
          <a:p>
            <a:pPr indent="0" marL="0">
              <a:buNone/>
            </a:pPr>
            <a:r>
              <a:rPr lang="en-US" sz="1200" dirty="0">
                <a:solidFill>
                  <a:srgbClr val="526159"/>
                </a:solidFill>
                <a:latin typeface="DM Sans" pitchFamily="34" charset="0"/>
                <a:ea typeface="DM Sans" pitchFamily="34" charset="-122"/>
                <a:cs typeface="DM Sans" pitchFamily="34" charset="-120"/>
              </a:rPr>
              <a:t>Transformation des récoltes · Stockage et vente groupée · Ferme agro-pastorale modèle · Matériaux de construction · Énergie solaire de proximité · Centre de services numériques et financiers · Galerie marchande et logements · Pharmacie et centre médical à tarif solidaire · Station multiservices · La boutique du pays bedjond · Caisse d’épargne et de crédit communautaire</a:t>
            </a:r>
            <a:endParaRPr lang="en-US" sz="1200" dirty="0"/>
          </a:p>
        </p:txBody>
      </p:sp>
      <p:sp>
        <p:nvSpPr>
          <p:cNvPr id="17" name="Text 1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18" name="Text 16"/>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22 / 26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Six piliers, vingt-deux thématiques, 16 coordinations pourvues</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QUI PORTE LE PROJET</a:t>
            </a:r>
            <a:endParaRPr lang="en-US" sz="900" dirty="0"/>
          </a:p>
        </p:txBody>
      </p:sp>
      <p:sp>
        <p:nvSpPr>
          <p:cNvPr id="4" name="Shape 2"/>
          <p:cNvSpPr/>
          <p:nvPr/>
        </p:nvSpPr>
        <p:spPr>
          <a:xfrm>
            <a:off x="548640" y="1737360"/>
            <a:ext cx="1620469" cy="4206240"/>
          </a:xfrm>
          <a:prstGeom prst="roundRect">
            <a:avLst>
              <a:gd name="adj" fmla="val 9028"/>
            </a:avLst>
          </a:prstGeom>
          <a:solidFill>
            <a:srgbClr val="F4F6F1"/>
          </a:solidFill>
          <a:ln w="9525">
            <a:solidFill>
              <a:srgbClr val="D5DDD6"/>
            </a:solidFill>
            <a:prstDash val="solid"/>
          </a:ln>
        </p:spPr>
      </p:sp>
      <p:sp>
        <p:nvSpPr>
          <p:cNvPr id="5" name="Shape 3"/>
          <p:cNvSpPr/>
          <p:nvPr/>
        </p:nvSpPr>
        <p:spPr>
          <a:xfrm>
            <a:off x="822960" y="2011680"/>
            <a:ext cx="457200" cy="457200"/>
          </a:xfrm>
          <a:prstGeom prst="ellipse">
            <a:avLst/>
          </a:prstGeom>
          <a:solidFill>
            <a:srgbClr val="B6CF45"/>
          </a:solidFill>
          <a:ln w="12700">
            <a:solidFill>
              <a:srgbClr val="B6CF45"/>
            </a:solidFill>
            <a:prstDash val="solid"/>
          </a:ln>
        </p:spPr>
      </p:sp>
      <p:sp>
        <p:nvSpPr>
          <p:cNvPr id="6" name="Text 4"/>
          <p:cNvSpPr txBox="1"/>
          <p:nvPr/>
        </p:nvSpPr>
        <p:spPr>
          <a:xfrm>
            <a:off x="822960"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I</a:t>
            </a:r>
            <a:endParaRPr lang="en-US" sz="1200" dirty="0"/>
          </a:p>
        </p:txBody>
      </p:sp>
      <p:sp>
        <p:nvSpPr>
          <p:cNvPr id="7" name="Text 5"/>
          <p:cNvSpPr txBox="1"/>
          <p:nvPr/>
        </p:nvSpPr>
        <p:spPr>
          <a:xfrm>
            <a:off x="1417320" y="1984248"/>
            <a:ext cx="568909" cy="548640"/>
          </a:xfrm>
          <a:prstGeom prst="rect">
            <a:avLst/>
          </a:prstGeom>
          <a:noFill/>
          <a:ln/>
        </p:spPr>
        <p:txBody>
          <a:bodyPr wrap="square" lIns="0" tIns="0" rIns="0" bIns="0" rtlCol="0" anchor="ctr">
            <a:normAutofit/>
          </a:bodyPr>
          <a:lstStyle/>
          <a:p>
            <a:pPr indent="0" marL="0">
              <a:buNone/>
            </a:pPr>
            <a:r>
              <a:rPr lang="en-US" sz="1050" b="1" dirty="0">
                <a:solidFill>
                  <a:srgbClr val="173B2D"/>
                </a:solidFill>
                <a:latin typeface="DM Sans" pitchFamily="34" charset="0"/>
                <a:ea typeface="DM Sans" pitchFamily="34" charset="-122"/>
                <a:cs typeface="DM Sans" pitchFamily="34" charset="-120"/>
              </a:rPr>
              <a:t>Culture, patrimoine et transmission</a:t>
            </a:r>
            <a:endParaRPr lang="en-US" sz="1050" dirty="0"/>
          </a:p>
        </p:txBody>
      </p:sp>
      <p:sp>
        <p:nvSpPr>
          <p:cNvPr id="8" name="Text 6"/>
          <p:cNvSpPr txBox="1"/>
          <p:nvPr/>
        </p:nvSpPr>
        <p:spPr>
          <a:xfrm>
            <a:off x="822960" y="2697480"/>
            <a:ext cx="1071829"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950" dirty="0">
                <a:solidFill>
                  <a:srgbClr val="10241E"/>
                </a:solidFill>
                <a:latin typeface="DM Sans" pitchFamily="34" charset="0"/>
                <a:ea typeface="DM Sans" pitchFamily="34" charset="-122"/>
                <a:cs typeface="DM Sans" pitchFamily="34" charset="-120"/>
              </a:rPr>
              <a:t>Vice-présidence : Dr Bé-Rammaj Miaro-II.</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Patrimoine historique et archives — Félix Mbété Nangmbatnan</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Culture et patrimoine immatériel — Dr Yaphete Madjiradé</a:t>
            </a:r>
            <a:endParaRPr lang="en-US" sz="950" dirty="0"/>
          </a:p>
        </p:txBody>
      </p:sp>
      <p:sp>
        <p:nvSpPr>
          <p:cNvPr id="9" name="Shape 7"/>
          <p:cNvSpPr/>
          <p:nvPr/>
        </p:nvSpPr>
        <p:spPr>
          <a:xfrm>
            <a:off x="2443429" y="1737360"/>
            <a:ext cx="1620469" cy="4206240"/>
          </a:xfrm>
          <a:prstGeom prst="roundRect">
            <a:avLst>
              <a:gd name="adj" fmla="val 9028"/>
            </a:avLst>
          </a:prstGeom>
          <a:solidFill>
            <a:srgbClr val="F4F6F1"/>
          </a:solidFill>
          <a:ln w="9525">
            <a:solidFill>
              <a:srgbClr val="D5DDD6"/>
            </a:solidFill>
            <a:prstDash val="solid"/>
          </a:ln>
        </p:spPr>
      </p:sp>
      <p:sp>
        <p:nvSpPr>
          <p:cNvPr id="10" name="Shape 8"/>
          <p:cNvSpPr/>
          <p:nvPr/>
        </p:nvSpPr>
        <p:spPr>
          <a:xfrm>
            <a:off x="2717749" y="2011680"/>
            <a:ext cx="457200" cy="457200"/>
          </a:xfrm>
          <a:prstGeom prst="ellipse">
            <a:avLst/>
          </a:prstGeom>
          <a:solidFill>
            <a:srgbClr val="B6CF45"/>
          </a:solidFill>
          <a:ln w="12700">
            <a:solidFill>
              <a:srgbClr val="B6CF45"/>
            </a:solidFill>
            <a:prstDash val="solid"/>
          </a:ln>
        </p:spPr>
      </p:sp>
      <p:sp>
        <p:nvSpPr>
          <p:cNvPr id="11" name="Text 9"/>
          <p:cNvSpPr txBox="1"/>
          <p:nvPr/>
        </p:nvSpPr>
        <p:spPr>
          <a:xfrm>
            <a:off x="2717749"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II</a:t>
            </a:r>
            <a:endParaRPr lang="en-US" sz="1200" dirty="0"/>
          </a:p>
        </p:txBody>
      </p:sp>
      <p:sp>
        <p:nvSpPr>
          <p:cNvPr id="12" name="Text 10"/>
          <p:cNvSpPr txBox="1"/>
          <p:nvPr/>
        </p:nvSpPr>
        <p:spPr>
          <a:xfrm>
            <a:off x="3312109" y="1984248"/>
            <a:ext cx="568909" cy="548640"/>
          </a:xfrm>
          <a:prstGeom prst="rect">
            <a:avLst/>
          </a:prstGeom>
          <a:noFill/>
          <a:ln/>
        </p:spPr>
        <p:txBody>
          <a:bodyPr wrap="square" lIns="0" tIns="0" rIns="0" bIns="0" rtlCol="0" anchor="ctr">
            <a:normAutofit/>
          </a:bodyPr>
          <a:lstStyle/>
          <a:p>
            <a:pPr indent="0" marL="0">
              <a:buNone/>
            </a:pPr>
            <a:r>
              <a:rPr lang="en-US" sz="1050" b="1" dirty="0">
                <a:solidFill>
                  <a:srgbClr val="173B2D"/>
                </a:solidFill>
                <a:latin typeface="DM Sans" pitchFamily="34" charset="0"/>
                <a:ea typeface="DM Sans" pitchFamily="34" charset="-122"/>
                <a:cs typeface="DM Sans" pitchFamily="34" charset="-120"/>
              </a:rPr>
              <a:t>Capital humain et inclusion sociale</a:t>
            </a:r>
            <a:endParaRPr lang="en-US" sz="1050" dirty="0"/>
          </a:p>
        </p:txBody>
      </p:sp>
      <p:sp>
        <p:nvSpPr>
          <p:cNvPr id="13" name="Text 11"/>
          <p:cNvSpPr txBox="1"/>
          <p:nvPr/>
        </p:nvSpPr>
        <p:spPr>
          <a:xfrm>
            <a:off x="2717749" y="2697480"/>
            <a:ext cx="1071829"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950" dirty="0">
                <a:solidFill>
                  <a:srgbClr val="10241E"/>
                </a:solidFill>
                <a:latin typeface="DM Sans" pitchFamily="34" charset="0"/>
                <a:ea typeface="DM Sans" pitchFamily="34" charset="-122"/>
                <a:cs typeface="DM Sans" pitchFamily="34" charset="-120"/>
              </a:rPr>
              <a:t>Vice-présidence : Franco Joseph Ngarlena.</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Recherche et enseignement supérieur — Sylvain Nomaye, ingénieur de conception en informatique</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Éducation et formation professionnelle — Bruno Kodjadoum NGARTEL</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Égalité des genres et autonomisation des femmes — Odette Tolmbaye</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Santé et nutrition — Dr Nestor Alladoumdjim</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Protection et inclusion sociale — Solkem Ngarmbatina</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Sport, culture et loisirs — à pourvoir</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Compétences numériques et emploi des jeunes — Rosine Mbaïnodoum</a:t>
            </a:r>
            <a:endParaRPr lang="en-US" sz="950" dirty="0"/>
          </a:p>
        </p:txBody>
      </p:sp>
      <p:sp>
        <p:nvSpPr>
          <p:cNvPr id="14" name="Shape 12"/>
          <p:cNvSpPr/>
          <p:nvPr/>
        </p:nvSpPr>
        <p:spPr>
          <a:xfrm>
            <a:off x="4338218" y="1737360"/>
            <a:ext cx="1620469" cy="4206240"/>
          </a:xfrm>
          <a:prstGeom prst="roundRect">
            <a:avLst>
              <a:gd name="adj" fmla="val 9028"/>
            </a:avLst>
          </a:prstGeom>
          <a:solidFill>
            <a:srgbClr val="F4F6F1"/>
          </a:solidFill>
          <a:ln w="9525">
            <a:solidFill>
              <a:srgbClr val="D5DDD6"/>
            </a:solidFill>
            <a:prstDash val="solid"/>
          </a:ln>
        </p:spPr>
      </p:sp>
      <p:sp>
        <p:nvSpPr>
          <p:cNvPr id="15" name="Shape 13"/>
          <p:cNvSpPr/>
          <p:nvPr/>
        </p:nvSpPr>
        <p:spPr>
          <a:xfrm>
            <a:off x="4612538" y="2011680"/>
            <a:ext cx="457200" cy="457200"/>
          </a:xfrm>
          <a:prstGeom prst="ellipse">
            <a:avLst/>
          </a:prstGeom>
          <a:solidFill>
            <a:srgbClr val="B6CF45"/>
          </a:solidFill>
          <a:ln w="12700">
            <a:solidFill>
              <a:srgbClr val="B6CF45"/>
            </a:solidFill>
            <a:prstDash val="solid"/>
          </a:ln>
        </p:spPr>
      </p:sp>
      <p:sp>
        <p:nvSpPr>
          <p:cNvPr id="16" name="Text 14"/>
          <p:cNvSpPr txBox="1"/>
          <p:nvPr/>
        </p:nvSpPr>
        <p:spPr>
          <a:xfrm>
            <a:off x="4612538"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III</a:t>
            </a:r>
            <a:endParaRPr lang="en-US" sz="1200" dirty="0"/>
          </a:p>
        </p:txBody>
      </p:sp>
      <p:sp>
        <p:nvSpPr>
          <p:cNvPr id="17" name="Text 15"/>
          <p:cNvSpPr txBox="1"/>
          <p:nvPr/>
        </p:nvSpPr>
        <p:spPr>
          <a:xfrm>
            <a:off x="5206898" y="1984248"/>
            <a:ext cx="568909" cy="548640"/>
          </a:xfrm>
          <a:prstGeom prst="rect">
            <a:avLst/>
          </a:prstGeom>
          <a:noFill/>
          <a:ln/>
        </p:spPr>
        <p:txBody>
          <a:bodyPr wrap="square" lIns="0" tIns="0" rIns="0" bIns="0" rtlCol="0" anchor="ctr">
            <a:normAutofit/>
          </a:bodyPr>
          <a:lstStyle/>
          <a:p>
            <a:pPr indent="0" marL="0">
              <a:buNone/>
            </a:pPr>
            <a:r>
              <a:rPr lang="en-US" sz="1050" b="1" dirty="0">
                <a:solidFill>
                  <a:srgbClr val="173B2D"/>
                </a:solidFill>
                <a:latin typeface="DM Sans" pitchFamily="34" charset="0"/>
                <a:ea typeface="DM Sans" pitchFamily="34" charset="-122"/>
                <a:cs typeface="DM Sans" pitchFamily="34" charset="-120"/>
              </a:rPr>
              <a:t>Services essentiels et développement territorial</a:t>
            </a:r>
            <a:endParaRPr lang="en-US" sz="1050" dirty="0"/>
          </a:p>
        </p:txBody>
      </p:sp>
      <p:sp>
        <p:nvSpPr>
          <p:cNvPr id="18" name="Text 16"/>
          <p:cNvSpPr txBox="1"/>
          <p:nvPr/>
        </p:nvSpPr>
        <p:spPr>
          <a:xfrm>
            <a:off x="4612538" y="2697480"/>
            <a:ext cx="1071829"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950" dirty="0">
                <a:solidFill>
                  <a:srgbClr val="10241E"/>
                </a:solidFill>
                <a:latin typeface="DM Sans" pitchFamily="34" charset="0"/>
                <a:ea typeface="DM Sans" pitchFamily="34" charset="-122"/>
                <a:cs typeface="DM Sans" pitchFamily="34" charset="-120"/>
              </a:rPr>
              <a:t>Vice-présidence : à pourvoir, par élection.</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Eau, assainissement et hygiène (WASH) — à pourvoir</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Transport et développement urbain — à pourvoir</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Énergie durable — à pourvoir</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TIC et connectivité — Bignéro Moïalbéi LE MADANG</a:t>
            </a:r>
            <a:endParaRPr lang="en-US" sz="950" dirty="0"/>
          </a:p>
        </p:txBody>
      </p:sp>
      <p:sp>
        <p:nvSpPr>
          <p:cNvPr id="19" name="Shape 17"/>
          <p:cNvSpPr/>
          <p:nvPr/>
        </p:nvSpPr>
        <p:spPr>
          <a:xfrm>
            <a:off x="6233008" y="1737360"/>
            <a:ext cx="1620469" cy="4206240"/>
          </a:xfrm>
          <a:prstGeom prst="roundRect">
            <a:avLst>
              <a:gd name="adj" fmla="val 9028"/>
            </a:avLst>
          </a:prstGeom>
          <a:solidFill>
            <a:srgbClr val="F4F6F1"/>
          </a:solidFill>
          <a:ln w="9525">
            <a:solidFill>
              <a:srgbClr val="D5DDD6"/>
            </a:solidFill>
            <a:prstDash val="solid"/>
          </a:ln>
        </p:spPr>
      </p:sp>
      <p:sp>
        <p:nvSpPr>
          <p:cNvPr id="20" name="Shape 18"/>
          <p:cNvSpPr/>
          <p:nvPr/>
        </p:nvSpPr>
        <p:spPr>
          <a:xfrm>
            <a:off x="6507328" y="2011680"/>
            <a:ext cx="457200" cy="457200"/>
          </a:xfrm>
          <a:prstGeom prst="ellipse">
            <a:avLst/>
          </a:prstGeom>
          <a:solidFill>
            <a:srgbClr val="B6CF45"/>
          </a:solidFill>
          <a:ln w="12700">
            <a:solidFill>
              <a:srgbClr val="B6CF45"/>
            </a:solidFill>
            <a:prstDash val="solid"/>
          </a:ln>
        </p:spPr>
      </p:sp>
      <p:sp>
        <p:nvSpPr>
          <p:cNvPr id="21" name="Text 19"/>
          <p:cNvSpPr txBox="1"/>
          <p:nvPr/>
        </p:nvSpPr>
        <p:spPr>
          <a:xfrm>
            <a:off x="6507328"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IV</a:t>
            </a:r>
            <a:endParaRPr lang="en-US" sz="1200" dirty="0"/>
          </a:p>
        </p:txBody>
      </p:sp>
      <p:sp>
        <p:nvSpPr>
          <p:cNvPr id="22" name="Text 20"/>
          <p:cNvSpPr txBox="1"/>
          <p:nvPr/>
        </p:nvSpPr>
        <p:spPr>
          <a:xfrm>
            <a:off x="7101688" y="1984248"/>
            <a:ext cx="568909" cy="548640"/>
          </a:xfrm>
          <a:prstGeom prst="rect">
            <a:avLst/>
          </a:prstGeom>
          <a:noFill/>
          <a:ln/>
        </p:spPr>
        <p:txBody>
          <a:bodyPr wrap="square" lIns="0" tIns="0" rIns="0" bIns="0" rtlCol="0" anchor="ctr">
            <a:normAutofit/>
          </a:bodyPr>
          <a:lstStyle/>
          <a:p>
            <a:pPr indent="0" marL="0">
              <a:buNone/>
            </a:pPr>
            <a:r>
              <a:rPr lang="en-US" sz="1050" b="1" dirty="0">
                <a:solidFill>
                  <a:srgbClr val="173B2D"/>
                </a:solidFill>
                <a:latin typeface="DM Sans" pitchFamily="34" charset="0"/>
                <a:ea typeface="DM Sans" pitchFamily="34" charset="-122"/>
                <a:cs typeface="DM Sans" pitchFamily="34" charset="-120"/>
              </a:rPr>
              <a:t>Économie inclusive et prospérité locale</a:t>
            </a:r>
            <a:endParaRPr lang="en-US" sz="1050" dirty="0"/>
          </a:p>
        </p:txBody>
      </p:sp>
      <p:sp>
        <p:nvSpPr>
          <p:cNvPr id="23" name="Text 21"/>
          <p:cNvSpPr txBox="1"/>
          <p:nvPr/>
        </p:nvSpPr>
        <p:spPr>
          <a:xfrm>
            <a:off x="6507328" y="2697480"/>
            <a:ext cx="1071829"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950" dirty="0">
                <a:solidFill>
                  <a:srgbClr val="10241E"/>
                </a:solidFill>
                <a:latin typeface="DM Sans" pitchFamily="34" charset="0"/>
                <a:ea typeface="DM Sans" pitchFamily="34" charset="-122"/>
                <a:cs typeface="DM Sans" pitchFamily="34" charset="-120"/>
              </a:rPr>
              <a:t>Vice-présidence : à pourvoir, par élection.</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Agriculture, élevage et sécurité alimentaire — Olivier Allaramadji Nomaye, ingénieur agroéconomiste</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Moyens d’existence et inclusion financière — Tamar Neloum DOUMANBE</a:t>
            </a:r>
            <a:endParaRPr lang="en-US" sz="950" dirty="0"/>
          </a:p>
        </p:txBody>
      </p:sp>
      <p:sp>
        <p:nvSpPr>
          <p:cNvPr id="24" name="Shape 22"/>
          <p:cNvSpPr/>
          <p:nvPr/>
        </p:nvSpPr>
        <p:spPr>
          <a:xfrm>
            <a:off x="8127797" y="1737360"/>
            <a:ext cx="1620469" cy="4206240"/>
          </a:xfrm>
          <a:prstGeom prst="roundRect">
            <a:avLst>
              <a:gd name="adj" fmla="val 9028"/>
            </a:avLst>
          </a:prstGeom>
          <a:solidFill>
            <a:srgbClr val="F4F6F1"/>
          </a:solidFill>
          <a:ln w="9525">
            <a:solidFill>
              <a:srgbClr val="D5DDD6"/>
            </a:solidFill>
            <a:prstDash val="solid"/>
          </a:ln>
        </p:spPr>
      </p:sp>
      <p:sp>
        <p:nvSpPr>
          <p:cNvPr id="25" name="Shape 23"/>
          <p:cNvSpPr/>
          <p:nvPr/>
        </p:nvSpPr>
        <p:spPr>
          <a:xfrm>
            <a:off x="8402117" y="2011680"/>
            <a:ext cx="457200" cy="457200"/>
          </a:xfrm>
          <a:prstGeom prst="ellipse">
            <a:avLst/>
          </a:prstGeom>
          <a:solidFill>
            <a:srgbClr val="B6CF45"/>
          </a:solidFill>
          <a:ln w="12700">
            <a:solidFill>
              <a:srgbClr val="B6CF45"/>
            </a:solidFill>
            <a:prstDash val="solid"/>
          </a:ln>
        </p:spPr>
      </p:sp>
      <p:sp>
        <p:nvSpPr>
          <p:cNvPr id="26" name="Text 24"/>
          <p:cNvSpPr txBox="1"/>
          <p:nvPr/>
        </p:nvSpPr>
        <p:spPr>
          <a:xfrm>
            <a:off x="8402117"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V</a:t>
            </a:r>
            <a:endParaRPr lang="en-US" sz="1200" dirty="0"/>
          </a:p>
        </p:txBody>
      </p:sp>
      <p:sp>
        <p:nvSpPr>
          <p:cNvPr id="27" name="Text 25"/>
          <p:cNvSpPr txBox="1"/>
          <p:nvPr/>
        </p:nvSpPr>
        <p:spPr>
          <a:xfrm>
            <a:off x="8996477" y="1984248"/>
            <a:ext cx="568909" cy="548640"/>
          </a:xfrm>
          <a:prstGeom prst="rect">
            <a:avLst/>
          </a:prstGeom>
          <a:noFill/>
          <a:ln/>
        </p:spPr>
        <p:txBody>
          <a:bodyPr wrap="square" lIns="0" tIns="0" rIns="0" bIns="0" rtlCol="0" anchor="ctr">
            <a:normAutofit/>
          </a:bodyPr>
          <a:lstStyle/>
          <a:p>
            <a:pPr indent="0" marL="0">
              <a:buNone/>
            </a:pPr>
            <a:r>
              <a:rPr lang="en-US" sz="1050" b="1" dirty="0">
                <a:solidFill>
                  <a:srgbClr val="173B2D"/>
                </a:solidFill>
                <a:latin typeface="DM Sans" pitchFamily="34" charset="0"/>
                <a:ea typeface="DM Sans" pitchFamily="34" charset="-122"/>
                <a:cs typeface="DM Sans" pitchFamily="34" charset="-120"/>
              </a:rPr>
              <a:t>Environnement, climat et résilience</a:t>
            </a:r>
            <a:endParaRPr lang="en-US" sz="1050" dirty="0"/>
          </a:p>
        </p:txBody>
      </p:sp>
      <p:sp>
        <p:nvSpPr>
          <p:cNvPr id="28" name="Text 26"/>
          <p:cNvSpPr txBox="1"/>
          <p:nvPr/>
        </p:nvSpPr>
        <p:spPr>
          <a:xfrm>
            <a:off x="8402117" y="2697480"/>
            <a:ext cx="1071829"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950" dirty="0">
                <a:solidFill>
                  <a:srgbClr val="10241E"/>
                </a:solidFill>
                <a:latin typeface="DM Sans" pitchFamily="34" charset="0"/>
                <a:ea typeface="DM Sans" pitchFamily="34" charset="-122"/>
                <a:cs typeface="DM Sans" pitchFamily="34" charset="-120"/>
              </a:rPr>
              <a:t>Vice-présidence : à pourvoir, par élection.</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Environnement, climat et ressources naturelles — à pourvoir</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Réduction des risques de catastrophe et urgences — à pourvoir</a:t>
            </a:r>
            <a:endParaRPr lang="en-US" sz="950" dirty="0"/>
          </a:p>
        </p:txBody>
      </p:sp>
      <p:sp>
        <p:nvSpPr>
          <p:cNvPr id="29" name="Shape 27"/>
          <p:cNvSpPr/>
          <p:nvPr/>
        </p:nvSpPr>
        <p:spPr>
          <a:xfrm>
            <a:off x="10022586" y="1737360"/>
            <a:ext cx="1620469" cy="4206240"/>
          </a:xfrm>
          <a:prstGeom prst="roundRect">
            <a:avLst>
              <a:gd name="adj" fmla="val 9028"/>
            </a:avLst>
          </a:prstGeom>
          <a:solidFill>
            <a:srgbClr val="F4F6F1"/>
          </a:solidFill>
          <a:ln w="9525">
            <a:solidFill>
              <a:srgbClr val="D5DDD6"/>
            </a:solidFill>
            <a:prstDash val="solid"/>
          </a:ln>
        </p:spPr>
      </p:sp>
      <p:sp>
        <p:nvSpPr>
          <p:cNvPr id="30" name="Shape 28"/>
          <p:cNvSpPr/>
          <p:nvPr/>
        </p:nvSpPr>
        <p:spPr>
          <a:xfrm>
            <a:off x="10296906" y="2011680"/>
            <a:ext cx="457200" cy="457200"/>
          </a:xfrm>
          <a:prstGeom prst="ellipse">
            <a:avLst/>
          </a:prstGeom>
          <a:solidFill>
            <a:srgbClr val="B6CF45"/>
          </a:solidFill>
          <a:ln w="12700">
            <a:solidFill>
              <a:srgbClr val="B6CF45"/>
            </a:solidFill>
            <a:prstDash val="solid"/>
          </a:ln>
        </p:spPr>
      </p:sp>
      <p:sp>
        <p:nvSpPr>
          <p:cNvPr id="31" name="Text 29"/>
          <p:cNvSpPr txBox="1"/>
          <p:nvPr/>
        </p:nvSpPr>
        <p:spPr>
          <a:xfrm>
            <a:off x="10296906" y="2011680"/>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VI</a:t>
            </a:r>
            <a:endParaRPr lang="en-US" sz="1200" dirty="0"/>
          </a:p>
        </p:txBody>
      </p:sp>
      <p:sp>
        <p:nvSpPr>
          <p:cNvPr id="32" name="Text 30"/>
          <p:cNvSpPr txBox="1"/>
          <p:nvPr/>
        </p:nvSpPr>
        <p:spPr>
          <a:xfrm>
            <a:off x="10891266" y="1984248"/>
            <a:ext cx="568909" cy="548640"/>
          </a:xfrm>
          <a:prstGeom prst="rect">
            <a:avLst/>
          </a:prstGeom>
          <a:noFill/>
          <a:ln/>
        </p:spPr>
        <p:txBody>
          <a:bodyPr wrap="square" lIns="0" tIns="0" rIns="0" bIns="0" rtlCol="0" anchor="ctr">
            <a:normAutofit/>
          </a:bodyPr>
          <a:lstStyle/>
          <a:p>
            <a:pPr indent="0" marL="0">
              <a:buNone/>
            </a:pPr>
            <a:r>
              <a:rPr lang="en-US" sz="1050" b="1" dirty="0">
                <a:solidFill>
                  <a:srgbClr val="173B2D"/>
                </a:solidFill>
                <a:latin typeface="DM Sans" pitchFamily="34" charset="0"/>
                <a:ea typeface="DM Sans" pitchFamily="34" charset="-122"/>
                <a:cs typeface="DM Sans" pitchFamily="34" charset="-120"/>
              </a:rPr>
              <a:t>Gouvernance, paix et partenariats</a:t>
            </a:r>
            <a:endParaRPr lang="en-US" sz="1050" dirty="0"/>
          </a:p>
        </p:txBody>
      </p:sp>
      <p:sp>
        <p:nvSpPr>
          <p:cNvPr id="33" name="Text 31"/>
          <p:cNvSpPr txBox="1"/>
          <p:nvPr/>
        </p:nvSpPr>
        <p:spPr>
          <a:xfrm>
            <a:off x="10296906" y="2697480"/>
            <a:ext cx="1071829" cy="2971800"/>
          </a:xfrm>
          <a:prstGeom prst="rect">
            <a:avLst/>
          </a:prstGeom>
          <a:noFill/>
          <a:ln/>
        </p:spPr>
        <p:txBody>
          <a:bodyPr wrap="square" lIns="0" tIns="0" rIns="0" bIns="0" rtlCol="0" anchor="t">
            <a:normAutofit/>
          </a:bodyPr>
          <a:lstStyle/>
          <a:p>
            <a:pPr indent="0" marL="0">
              <a:lnSpc>
                <a:spcPct val="110000"/>
              </a:lnSpc>
              <a:spcAft>
                <a:spcPts val="800"/>
              </a:spcAft>
              <a:buNone/>
            </a:pPr>
            <a:r>
              <a:rPr lang="en-US" sz="950" dirty="0">
                <a:solidFill>
                  <a:srgbClr val="10241E"/>
                </a:solidFill>
                <a:latin typeface="DM Sans" pitchFamily="34" charset="0"/>
                <a:ea typeface="DM Sans" pitchFamily="34" charset="-122"/>
                <a:cs typeface="DM Sans" pitchFamily="34" charset="-120"/>
              </a:rPr>
              <a:t>Vice-présidence : à pourvoir, par élection.</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Gouvernance et société civile — Adoumbé Maoura, président de l’association</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Paix et cohésion sociale — Sa Majesté Moulbe Brahim Nadoumbeye, chef de canton de Bébopen</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Diaspora et partenariats — Edgard Djerassem Djimhotengar</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Droits humains et accès à la justice — Dr Eugène Ngartebaye Le Yotha</a:t>
            </a:r>
            <a:endParaRPr lang="en-US" sz="950" dirty="0"/>
          </a:p>
          <a:p>
            <a:pPr marL="177800" indent="-177800">
              <a:lnSpc>
                <a:spcPct val="110000"/>
              </a:lnSpc>
              <a:spcAft>
                <a:spcPts val="600"/>
              </a:spcAft>
              <a:buSzPct val="100000"/>
              <a:buChar char="•"/>
            </a:pPr>
            <a:r>
              <a:rPr lang="en-US" sz="950" dirty="0">
                <a:solidFill>
                  <a:srgbClr val="10241E"/>
                </a:solidFill>
                <a:latin typeface="DM Sans" pitchFamily="34" charset="0"/>
                <a:ea typeface="DM Sans" pitchFamily="34" charset="-122"/>
                <a:cs typeface="DM Sans" pitchFamily="34" charset="-120"/>
              </a:rPr>
              <a:t>Données et intelligence artificielle — Bonheur Allahaddje</a:t>
            </a:r>
            <a:endParaRPr lang="en-US" sz="950" dirty="0"/>
          </a:p>
        </p:txBody>
      </p:sp>
      <p:sp>
        <p:nvSpPr>
          <p:cNvPr id="34" name="Text 32"/>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35" name="Text 33"/>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23 / 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Six phases</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FEUILLE DE ROUTE 2026-2030</a:t>
            </a:r>
            <a:endParaRPr lang="en-US" sz="900" dirty="0"/>
          </a:p>
        </p:txBody>
      </p:sp>
      <p:sp>
        <p:nvSpPr>
          <p:cNvPr id="4" name="Shape 2"/>
          <p:cNvSpPr/>
          <p:nvPr/>
        </p:nvSpPr>
        <p:spPr>
          <a:xfrm>
            <a:off x="548640" y="1856232"/>
            <a:ext cx="457200" cy="457200"/>
          </a:xfrm>
          <a:prstGeom prst="ellipse">
            <a:avLst/>
          </a:prstGeom>
          <a:solidFill>
            <a:srgbClr val="B6CF45"/>
          </a:solidFill>
          <a:ln w="12700">
            <a:solidFill>
              <a:srgbClr val="B6CF45"/>
            </a:solidFill>
            <a:prstDash val="solid"/>
          </a:ln>
        </p:spPr>
      </p:sp>
      <p:sp>
        <p:nvSpPr>
          <p:cNvPr id="5" name="Text 3"/>
          <p:cNvSpPr txBox="1"/>
          <p:nvPr/>
        </p:nvSpPr>
        <p:spPr>
          <a:xfrm>
            <a:off x="548640" y="185623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1</a:t>
            </a:r>
            <a:endParaRPr lang="en-US" sz="1200" dirty="0"/>
          </a:p>
        </p:txBody>
      </p:sp>
      <p:sp>
        <p:nvSpPr>
          <p:cNvPr id="6" name="Text 4"/>
          <p:cNvSpPr txBox="1"/>
          <p:nvPr/>
        </p:nvSpPr>
        <p:spPr>
          <a:xfrm>
            <a:off x="1234440" y="1783080"/>
            <a:ext cx="3108960" cy="56388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2026 · Relance et fondations</a:t>
            </a:r>
            <a:endParaRPr lang="en-US" sz="1400" dirty="0"/>
          </a:p>
        </p:txBody>
      </p:sp>
      <p:sp>
        <p:nvSpPr>
          <p:cNvPr id="7" name="Text 5"/>
          <p:cNvSpPr txBox="1"/>
          <p:nvPr/>
        </p:nvSpPr>
        <p:spPr>
          <a:xfrm>
            <a:off x="4480560" y="1783080"/>
            <a:ext cx="7132320" cy="56388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Quarante ans après les premières réflexions, l’association se remet en mouvement : une structure, un site qui date ses faits, des plaidoyers, un diagnostic, une carte. Tout ce qui suit s’appuie dessus.</a:t>
            </a:r>
            <a:endParaRPr lang="en-US" sz="1250" dirty="0"/>
          </a:p>
        </p:txBody>
      </p:sp>
      <p:sp>
        <p:nvSpPr>
          <p:cNvPr id="8" name="Shape 6"/>
          <p:cNvSpPr/>
          <p:nvPr/>
        </p:nvSpPr>
        <p:spPr>
          <a:xfrm>
            <a:off x="1234440" y="2410968"/>
            <a:ext cx="10378440" cy="0"/>
          </a:xfrm>
          <a:prstGeom prst="line">
            <a:avLst/>
          </a:prstGeom>
          <a:noFill/>
          <a:ln w="9525">
            <a:solidFill>
              <a:srgbClr val="D5DDD6"/>
            </a:solidFill>
            <a:prstDash val="solid"/>
          </a:ln>
        </p:spPr>
      </p:sp>
      <p:sp>
        <p:nvSpPr>
          <p:cNvPr id="9" name="Shape 7"/>
          <p:cNvSpPr/>
          <p:nvPr/>
        </p:nvSpPr>
        <p:spPr>
          <a:xfrm>
            <a:off x="548640" y="2557272"/>
            <a:ext cx="457200" cy="457200"/>
          </a:xfrm>
          <a:prstGeom prst="ellipse">
            <a:avLst/>
          </a:prstGeom>
          <a:solidFill>
            <a:srgbClr val="B6CF45"/>
          </a:solidFill>
          <a:ln w="12700">
            <a:solidFill>
              <a:srgbClr val="B6CF45"/>
            </a:solidFill>
            <a:prstDash val="solid"/>
          </a:ln>
        </p:spPr>
      </p:sp>
      <p:sp>
        <p:nvSpPr>
          <p:cNvPr id="10" name="Text 8"/>
          <p:cNvSpPr txBox="1"/>
          <p:nvPr/>
        </p:nvSpPr>
        <p:spPr>
          <a:xfrm>
            <a:off x="548640" y="255727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2</a:t>
            </a:r>
            <a:endParaRPr lang="en-US" sz="1200" dirty="0"/>
          </a:p>
        </p:txBody>
      </p:sp>
      <p:sp>
        <p:nvSpPr>
          <p:cNvPr id="11" name="Text 9"/>
          <p:cNvSpPr txBox="1"/>
          <p:nvPr/>
        </p:nvSpPr>
        <p:spPr>
          <a:xfrm>
            <a:off x="1234440" y="2484120"/>
            <a:ext cx="3108960" cy="56388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Phase 1 · 0 à 6 mois · Rendre le site vivant</a:t>
            </a:r>
            <a:endParaRPr lang="en-US" sz="1400" dirty="0"/>
          </a:p>
        </p:txBody>
      </p:sp>
      <p:sp>
        <p:nvSpPr>
          <p:cNvPr id="12" name="Text 10"/>
          <p:cNvSpPr txBox="1"/>
          <p:nvPr/>
        </p:nvSpPr>
        <p:spPr>
          <a:xfrm>
            <a:off x="4480560" y="2484120"/>
            <a:ext cx="7132320" cy="56388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Jusqu’au printemps 2027 : un tableau de bord qui bouge, une cartographie que la communauté remplit, un espace pour les membres.</a:t>
            </a:r>
            <a:endParaRPr lang="en-US" sz="1250" dirty="0"/>
          </a:p>
        </p:txBody>
      </p:sp>
      <p:sp>
        <p:nvSpPr>
          <p:cNvPr id="13" name="Shape 11"/>
          <p:cNvSpPr/>
          <p:nvPr/>
        </p:nvSpPr>
        <p:spPr>
          <a:xfrm>
            <a:off x="1234440" y="3112008"/>
            <a:ext cx="10378440" cy="0"/>
          </a:xfrm>
          <a:prstGeom prst="line">
            <a:avLst/>
          </a:prstGeom>
          <a:noFill/>
          <a:ln w="9525">
            <a:solidFill>
              <a:srgbClr val="D5DDD6"/>
            </a:solidFill>
            <a:prstDash val="solid"/>
          </a:ln>
        </p:spPr>
      </p:sp>
      <p:sp>
        <p:nvSpPr>
          <p:cNvPr id="14" name="Shape 12"/>
          <p:cNvSpPr/>
          <p:nvPr/>
        </p:nvSpPr>
        <p:spPr>
          <a:xfrm>
            <a:off x="548640" y="3258312"/>
            <a:ext cx="457200" cy="457200"/>
          </a:xfrm>
          <a:prstGeom prst="ellipse">
            <a:avLst/>
          </a:prstGeom>
          <a:solidFill>
            <a:srgbClr val="B6CF45"/>
          </a:solidFill>
          <a:ln w="12700">
            <a:solidFill>
              <a:srgbClr val="B6CF45"/>
            </a:solidFill>
            <a:prstDash val="solid"/>
          </a:ln>
        </p:spPr>
      </p:sp>
      <p:sp>
        <p:nvSpPr>
          <p:cNvPr id="15" name="Text 13"/>
          <p:cNvSpPr txBox="1"/>
          <p:nvPr/>
        </p:nvSpPr>
        <p:spPr>
          <a:xfrm>
            <a:off x="548640" y="325831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3</a:t>
            </a:r>
            <a:endParaRPr lang="en-US" sz="1200" dirty="0"/>
          </a:p>
        </p:txBody>
      </p:sp>
      <p:sp>
        <p:nvSpPr>
          <p:cNvPr id="16" name="Text 14"/>
          <p:cNvSpPr txBox="1"/>
          <p:nvPr/>
        </p:nvSpPr>
        <p:spPr>
          <a:xfrm>
            <a:off x="1234440" y="3185160"/>
            <a:ext cx="3108960" cy="56388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Phase 2 · 6 à 18 mois · Outiller la communauté</a:t>
            </a:r>
            <a:endParaRPr lang="en-US" sz="1400" dirty="0"/>
          </a:p>
        </p:txBody>
      </p:sp>
      <p:sp>
        <p:nvSpPr>
          <p:cNvPr id="17" name="Text 15"/>
          <p:cNvSpPr txBox="1"/>
          <p:nvPr/>
        </p:nvSpPr>
        <p:spPr>
          <a:xfrm>
            <a:off x="4480560" y="3185160"/>
            <a:ext cx="7132320" cy="56388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De 2027 au début de 2028 : les compétences de la diaspora, une plateforme de projets, la bibliothèque numérique — et le pas institutionnel.</a:t>
            </a:r>
            <a:endParaRPr lang="en-US" sz="1250" dirty="0"/>
          </a:p>
        </p:txBody>
      </p:sp>
      <p:sp>
        <p:nvSpPr>
          <p:cNvPr id="18" name="Shape 16"/>
          <p:cNvSpPr/>
          <p:nvPr/>
        </p:nvSpPr>
        <p:spPr>
          <a:xfrm>
            <a:off x="1234440" y="3813048"/>
            <a:ext cx="10378440" cy="0"/>
          </a:xfrm>
          <a:prstGeom prst="line">
            <a:avLst/>
          </a:prstGeom>
          <a:noFill/>
          <a:ln w="9525">
            <a:solidFill>
              <a:srgbClr val="D5DDD6"/>
            </a:solidFill>
            <a:prstDash val="solid"/>
          </a:ln>
        </p:spPr>
      </p:sp>
      <p:sp>
        <p:nvSpPr>
          <p:cNvPr id="19" name="Shape 17"/>
          <p:cNvSpPr/>
          <p:nvPr/>
        </p:nvSpPr>
        <p:spPr>
          <a:xfrm>
            <a:off x="548640" y="3959352"/>
            <a:ext cx="457200" cy="457200"/>
          </a:xfrm>
          <a:prstGeom prst="ellipse">
            <a:avLst/>
          </a:prstGeom>
          <a:solidFill>
            <a:srgbClr val="B6CF45"/>
          </a:solidFill>
          <a:ln w="12700">
            <a:solidFill>
              <a:srgbClr val="B6CF45"/>
            </a:solidFill>
            <a:prstDash val="solid"/>
          </a:ln>
        </p:spPr>
      </p:sp>
      <p:sp>
        <p:nvSpPr>
          <p:cNvPr id="20" name="Text 18"/>
          <p:cNvSpPr txBox="1"/>
          <p:nvPr/>
        </p:nvSpPr>
        <p:spPr>
          <a:xfrm>
            <a:off x="548640" y="395935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4</a:t>
            </a:r>
            <a:endParaRPr lang="en-US" sz="1200" dirty="0"/>
          </a:p>
        </p:txBody>
      </p:sp>
      <p:sp>
        <p:nvSpPr>
          <p:cNvPr id="21" name="Text 19"/>
          <p:cNvSpPr txBox="1"/>
          <p:nvPr/>
        </p:nvSpPr>
        <p:spPr>
          <a:xfrm>
            <a:off x="1234440" y="3886200"/>
            <a:ext cx="3108960" cy="56388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Phase 3 · 18 à 36 mois · L’observatoire et l’académie</a:t>
            </a:r>
            <a:endParaRPr lang="en-US" sz="1400" dirty="0"/>
          </a:p>
        </p:txBody>
      </p:sp>
      <p:sp>
        <p:nvSpPr>
          <p:cNvPr id="22" name="Text 20"/>
          <p:cNvSpPr txBox="1"/>
          <p:nvPr/>
        </p:nvSpPr>
        <p:spPr>
          <a:xfrm>
            <a:off x="4480560" y="3886200"/>
            <a:ext cx="7132320" cy="56388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De 2028 à 2029 : ce qui fait d’un site une organisation — un observatoire du Mandoul Occidental, un patrimoine vivant en images et en sons, une académie numérique, une application complète.</a:t>
            </a:r>
            <a:endParaRPr lang="en-US" sz="1250" dirty="0"/>
          </a:p>
        </p:txBody>
      </p:sp>
      <p:sp>
        <p:nvSpPr>
          <p:cNvPr id="23" name="Shape 21"/>
          <p:cNvSpPr/>
          <p:nvPr/>
        </p:nvSpPr>
        <p:spPr>
          <a:xfrm>
            <a:off x="1234440" y="4514088"/>
            <a:ext cx="10378440" cy="0"/>
          </a:xfrm>
          <a:prstGeom prst="line">
            <a:avLst/>
          </a:prstGeom>
          <a:noFill/>
          <a:ln w="9525">
            <a:solidFill>
              <a:srgbClr val="D5DDD6"/>
            </a:solidFill>
            <a:prstDash val="solid"/>
          </a:ln>
        </p:spPr>
      </p:sp>
      <p:sp>
        <p:nvSpPr>
          <p:cNvPr id="24" name="Shape 22"/>
          <p:cNvSpPr/>
          <p:nvPr/>
        </p:nvSpPr>
        <p:spPr>
          <a:xfrm>
            <a:off x="548640" y="4660392"/>
            <a:ext cx="457200" cy="457200"/>
          </a:xfrm>
          <a:prstGeom prst="ellipse">
            <a:avLst/>
          </a:prstGeom>
          <a:solidFill>
            <a:srgbClr val="B6CF45"/>
          </a:solidFill>
          <a:ln w="12700">
            <a:solidFill>
              <a:srgbClr val="B6CF45"/>
            </a:solidFill>
            <a:prstDash val="solid"/>
          </a:ln>
        </p:spPr>
      </p:sp>
      <p:sp>
        <p:nvSpPr>
          <p:cNvPr id="25" name="Text 23"/>
          <p:cNvSpPr txBox="1"/>
          <p:nvPr/>
        </p:nvSpPr>
        <p:spPr>
          <a:xfrm>
            <a:off x="548640" y="466039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5</a:t>
            </a:r>
            <a:endParaRPr lang="en-US" sz="1200" dirty="0"/>
          </a:p>
        </p:txBody>
      </p:sp>
      <p:sp>
        <p:nvSpPr>
          <p:cNvPr id="26" name="Text 24"/>
          <p:cNvSpPr txBox="1"/>
          <p:nvPr/>
        </p:nvSpPr>
        <p:spPr>
          <a:xfrm>
            <a:off x="1234440" y="4587240"/>
            <a:ext cx="3108960" cy="56388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2028 · Bilan du plan d’action 2026-2028</a:t>
            </a:r>
            <a:endParaRPr lang="en-US" sz="1400" dirty="0"/>
          </a:p>
        </p:txBody>
      </p:sp>
      <p:sp>
        <p:nvSpPr>
          <p:cNvPr id="27" name="Text 25"/>
          <p:cNvSpPr txBox="1"/>
          <p:nvPr/>
        </p:nvSpPr>
        <p:spPr>
          <a:xfrm>
            <a:off x="4480560" y="4587240"/>
            <a:ext cx="7132320" cy="56388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Le plan d’action se termine : ses six indicateurs sont publiés avec leur évolution, et le rapport annuel prévu par les recommandations dit ce qui a été fait, ce qui ne l’a pas été, et pourquoi.</a:t>
            </a:r>
            <a:endParaRPr lang="en-US" sz="1250" dirty="0"/>
          </a:p>
        </p:txBody>
      </p:sp>
      <p:sp>
        <p:nvSpPr>
          <p:cNvPr id="28" name="Shape 26"/>
          <p:cNvSpPr/>
          <p:nvPr/>
        </p:nvSpPr>
        <p:spPr>
          <a:xfrm>
            <a:off x="1234440" y="5215128"/>
            <a:ext cx="10378440" cy="0"/>
          </a:xfrm>
          <a:prstGeom prst="line">
            <a:avLst/>
          </a:prstGeom>
          <a:noFill/>
          <a:ln w="9525">
            <a:solidFill>
              <a:srgbClr val="D5DDD6"/>
            </a:solidFill>
            <a:prstDash val="solid"/>
          </a:ln>
        </p:spPr>
      </p:sp>
      <p:sp>
        <p:nvSpPr>
          <p:cNvPr id="29" name="Shape 27"/>
          <p:cNvSpPr/>
          <p:nvPr/>
        </p:nvSpPr>
        <p:spPr>
          <a:xfrm>
            <a:off x="548640" y="5361432"/>
            <a:ext cx="457200" cy="457200"/>
          </a:xfrm>
          <a:prstGeom prst="ellipse">
            <a:avLst/>
          </a:prstGeom>
          <a:solidFill>
            <a:srgbClr val="B6CF45"/>
          </a:solidFill>
          <a:ln w="12700">
            <a:solidFill>
              <a:srgbClr val="B6CF45"/>
            </a:solidFill>
            <a:prstDash val="solid"/>
          </a:ln>
        </p:spPr>
      </p:sp>
      <p:sp>
        <p:nvSpPr>
          <p:cNvPr id="30" name="Text 28"/>
          <p:cNvSpPr txBox="1"/>
          <p:nvPr/>
        </p:nvSpPr>
        <p:spPr>
          <a:xfrm>
            <a:off x="548640" y="5361432"/>
            <a:ext cx="457200" cy="457200"/>
          </a:xfrm>
          <a:prstGeom prst="rect">
            <a:avLst/>
          </a:prstGeom>
          <a:noFill/>
          <a:ln/>
        </p:spPr>
        <p:txBody>
          <a:bodyPr wrap="square" lIns="0" tIns="0" rIns="0" bIns="0" rtlCol="0" anchor="ctr"/>
          <a:lstStyle/>
          <a:p>
            <a:pPr algn="ctr" indent="0" marL="0">
              <a:buNone/>
            </a:pPr>
            <a:r>
              <a:rPr lang="en-US" sz="1200" b="1" dirty="0">
                <a:solidFill>
                  <a:srgbClr val="173B2D"/>
                </a:solidFill>
                <a:latin typeface="DM Sans" pitchFamily="34" charset="0"/>
                <a:ea typeface="DM Sans" pitchFamily="34" charset="-122"/>
                <a:cs typeface="DM Sans" pitchFamily="34" charset="-120"/>
              </a:rPr>
              <a:t>6</a:t>
            </a:r>
            <a:endParaRPr lang="en-US" sz="1200" dirty="0"/>
          </a:p>
        </p:txBody>
      </p:sp>
      <p:sp>
        <p:nvSpPr>
          <p:cNvPr id="31" name="Text 29"/>
          <p:cNvSpPr txBox="1"/>
          <p:nvPr/>
        </p:nvSpPr>
        <p:spPr>
          <a:xfrm>
            <a:off x="1234440" y="5288280"/>
            <a:ext cx="3108960" cy="563880"/>
          </a:xfrm>
          <a:prstGeom prst="rect">
            <a:avLst/>
          </a:prstGeom>
          <a:noFill/>
          <a:ln/>
        </p:spPr>
        <p:txBody>
          <a:bodyPr wrap="square" lIns="0" tIns="0" rIns="0" bIns="0" rtlCol="0" anchor="t">
            <a:normAutofit/>
          </a:bodyPr>
          <a:lstStyle/>
          <a:p>
            <a:pPr indent="0" marL="0">
              <a:buNone/>
            </a:pPr>
            <a:r>
              <a:rPr lang="en-US" sz="1400" b="1" dirty="0">
                <a:solidFill>
                  <a:srgbClr val="173B2D"/>
                </a:solidFill>
                <a:latin typeface="DM Sans" pitchFamily="34" charset="0"/>
                <a:ea typeface="DM Sans" pitchFamily="34" charset="-122"/>
                <a:cs typeface="DM Sans" pitchFamily="34" charset="-120"/>
              </a:rPr>
              <a:t>2029-2030 · L’organisation de référence</a:t>
            </a:r>
            <a:endParaRPr lang="en-US" sz="1400" dirty="0"/>
          </a:p>
        </p:txBody>
      </p:sp>
      <p:sp>
        <p:nvSpPr>
          <p:cNvPr id="32" name="Text 30"/>
          <p:cNvSpPr txBox="1"/>
          <p:nvPr/>
        </p:nvSpPr>
        <p:spPr>
          <a:xfrm>
            <a:off x="4480560" y="5288280"/>
            <a:ext cx="7132320" cy="563880"/>
          </a:xfrm>
          <a:prstGeom prst="rect">
            <a:avLst/>
          </a:prstGeom>
          <a:noFill/>
          <a:ln/>
        </p:spPr>
        <p:txBody>
          <a:bodyPr wrap="square" lIns="0" tIns="0" rIns="0" bIns="0" rtlCol="0" anchor="t">
            <a:normAutofit/>
          </a:bodyPr>
          <a:lstStyle/>
          <a:p>
            <a:pPr indent="0" marL="0">
              <a:lnSpc>
                <a:spcPct val="110000"/>
              </a:lnSpc>
              <a:buNone/>
            </a:pPr>
            <a:r>
              <a:rPr lang="en-US" sz="1250" dirty="0">
                <a:solidFill>
                  <a:srgbClr val="10241E"/>
                </a:solidFill>
                <a:latin typeface="DM Sans" pitchFamily="34" charset="0"/>
                <a:ea typeface="DM Sans" pitchFamily="34" charset="-122"/>
                <a:cs typeface="DM Sans" pitchFamily="34" charset="-120"/>
              </a:rPr>
              <a:t>L’ODEB LONODJI est constituée : une organisation permanente de recherche, de documentation, de développement territorial, d’innovation, de patrimoine et de mobilisation de la diaspora, qui rend des comptes et tient dans la durée.</a:t>
            </a:r>
            <a:endParaRPr lang="en-US" sz="1250" dirty="0"/>
          </a:p>
        </p:txBody>
      </p:sp>
      <p:sp>
        <p:nvSpPr>
          <p:cNvPr id="33" name="Text 31"/>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34" name="Text 32"/>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24 / 26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502920"/>
            <a:ext cx="7863840" cy="960120"/>
          </a:xfrm>
          <a:prstGeom prst="rect">
            <a:avLst/>
          </a:prstGeom>
          <a:noFill/>
          <a:ln/>
        </p:spPr>
        <p:txBody>
          <a:bodyPr wrap="square" lIns="0" tIns="0" rIns="0" bIns="0" rtlCol="0" anchor="t">
            <a:normAutofit/>
          </a:bodyPr>
          <a:lstStyle/>
          <a:p>
            <a:pPr indent="0" marL="0">
              <a:buNone/>
            </a:pPr>
            <a:r>
              <a:rPr lang="en-US" sz="3400" dirty="0">
                <a:solidFill>
                  <a:srgbClr val="10241E"/>
                </a:solidFill>
                <a:latin typeface="Playfair Display" pitchFamily="34" charset="0"/>
                <a:ea typeface="Playfair Display" pitchFamily="34" charset="-122"/>
                <a:cs typeface="Playfair Display" pitchFamily="34" charset="-120"/>
              </a:rPr>
              <a:t>Les décisions attendues</a:t>
            </a:r>
            <a:endParaRPr lang="en-US" sz="3400" dirty="0"/>
          </a:p>
        </p:txBody>
      </p:sp>
      <p:sp>
        <p:nvSpPr>
          <p:cNvPr id="3" name="Text 1"/>
          <p:cNvSpPr txBox="1"/>
          <p:nvPr/>
        </p:nvSpPr>
        <p:spPr>
          <a:xfrm>
            <a:off x="548640" y="228600"/>
            <a:ext cx="7315200" cy="274320"/>
          </a:xfrm>
          <a:prstGeom prst="rect">
            <a:avLst/>
          </a:prstGeom>
          <a:noFill/>
          <a:ln/>
        </p:spPr>
        <p:txBody>
          <a:bodyPr wrap="square" lIns="0" tIns="0" rIns="0" bIns="0" rtlCol="0" anchor="ctr"/>
          <a:lstStyle/>
          <a:p>
            <a:pPr indent="0" marL="0">
              <a:buNone/>
            </a:pPr>
            <a:r>
              <a:rPr lang="en-US" sz="900" b="1" spc="300" kern="0" dirty="0">
                <a:solidFill>
                  <a:srgbClr val="526159"/>
                </a:solidFill>
                <a:latin typeface="DM Sans" pitchFamily="34" charset="0"/>
                <a:ea typeface="DM Sans" pitchFamily="34" charset="-122"/>
                <a:cs typeface="DM Sans" pitchFamily="34" charset="-120"/>
              </a:rPr>
              <a:t>CE QUE L’ASSEMBLÉE DÉCIDE</a:t>
            </a:r>
            <a:endParaRPr lang="en-US" sz="900" dirty="0"/>
          </a:p>
        </p:txBody>
      </p:sp>
      <p:sp>
        <p:nvSpPr>
          <p:cNvPr id="4" name="Text 2"/>
          <p:cNvSpPr txBox="1"/>
          <p:nvPr/>
        </p:nvSpPr>
        <p:spPr>
          <a:xfrm>
            <a:off x="548640" y="1691640"/>
            <a:ext cx="10881360" cy="4206240"/>
          </a:xfrm>
          <a:prstGeom prst="rect">
            <a:avLst/>
          </a:prstGeom>
          <a:noFill/>
          <a:ln/>
        </p:spPr>
        <p:txBody>
          <a:bodyPr wrap="square" lIns="0" tIns="0" rIns="0" bIns="0" rtlCol="0" anchor="t">
            <a:normAutofit/>
          </a:bodyPr>
          <a:lstStyle/>
          <a:p>
            <a:pPr marL="228600" indent="-228600">
              <a:lnSpc>
                <a:spcPct val="115000"/>
              </a:lnSpc>
              <a:spcAft>
                <a:spcPts val="600"/>
              </a:spcAft>
              <a:buSzPct val="100000"/>
              <a:buChar char="•"/>
            </a:pPr>
            <a:r>
              <a:rPr lang="en-US" sz="1600" dirty="0">
                <a:solidFill>
                  <a:srgbClr val="10241E"/>
                </a:solidFill>
                <a:latin typeface="DM Sans" pitchFamily="34" charset="0"/>
                <a:ea typeface="DM Sans" pitchFamily="34" charset="-122"/>
                <a:cs typeface="DM Sans" pitchFamily="34" charset="-120"/>
              </a:rPr>
              <a:t>Les cinq règles du programme 06 (règle d’affectation des bénéfices comprise)</a:t>
            </a:r>
            <a:endParaRPr lang="en-US" sz="1600" dirty="0"/>
          </a:p>
          <a:p>
            <a:pPr marL="228600" indent="-228600">
              <a:lnSpc>
                <a:spcPct val="115000"/>
              </a:lnSpc>
              <a:spcAft>
                <a:spcPts val="600"/>
              </a:spcAft>
              <a:buSzPct val="100000"/>
              <a:buChar char="•"/>
            </a:pPr>
            <a:r>
              <a:rPr lang="en-US" sz="1600" dirty="0">
                <a:solidFill>
                  <a:srgbClr val="10241E"/>
                </a:solidFill>
                <a:latin typeface="DM Sans" pitchFamily="34" charset="0"/>
                <a:ea typeface="DM Sans" pitchFamily="34" charset="-122"/>
                <a:cs typeface="DM Sans" pitchFamily="34" charset="-120"/>
              </a:rPr>
              <a:t>Les vice-présidences de pilier à élire : quatre sur six (piliers III, IV, V, VI)</a:t>
            </a:r>
            <a:endParaRPr lang="en-US" sz="1600" dirty="0"/>
          </a:p>
          <a:p>
            <a:pPr marL="228600" indent="-228600">
              <a:lnSpc>
                <a:spcPct val="115000"/>
              </a:lnSpc>
              <a:spcAft>
                <a:spcPts val="600"/>
              </a:spcAft>
              <a:buSzPct val="100000"/>
              <a:buChar char="•"/>
            </a:pPr>
            <a:r>
              <a:rPr lang="en-US" sz="1600" dirty="0">
                <a:solidFill>
                  <a:srgbClr val="10241E"/>
                </a:solidFill>
                <a:latin typeface="DM Sans" pitchFamily="34" charset="0"/>
                <a:ea typeface="DM Sans" pitchFamily="34" charset="-122"/>
                <a:cs typeface="DM Sans" pitchFamily="34" charset="-120"/>
              </a:rPr>
              <a:t>Les coordinations restant à pourvoir : 6 thématiques</a:t>
            </a:r>
            <a:endParaRPr lang="en-US" sz="1600" dirty="0"/>
          </a:p>
          <a:p>
            <a:pPr marL="228600" indent="-228600">
              <a:lnSpc>
                <a:spcPct val="115000"/>
              </a:lnSpc>
              <a:spcAft>
                <a:spcPts val="600"/>
              </a:spcAft>
              <a:buSzPct val="100000"/>
              <a:buChar char="•"/>
            </a:pPr>
            <a:r>
              <a:rPr lang="en-US" sz="1600" dirty="0">
                <a:solidFill>
                  <a:srgbClr val="10241E"/>
                </a:solidFill>
                <a:latin typeface="DM Sans" pitchFamily="34" charset="0"/>
                <a:ea typeface="DM Sans" pitchFamily="34" charset="-122"/>
                <a:cs typeface="DM Sans" pitchFamily="34" charset="-120"/>
              </a:rPr>
              <a:t>Conversion en ONG sous le nom ODEB LONODJI — décision annoncée, aucun dossier déposé ; la démarche est décrite pas à pas</a:t>
            </a:r>
            <a:endParaRPr lang="en-US" sz="1600" dirty="0"/>
          </a:p>
          <a:p>
            <a:pPr marL="228600" indent="-228600">
              <a:lnSpc>
                <a:spcPct val="115000"/>
              </a:lnSpc>
              <a:spcAft>
                <a:spcPts val="600"/>
              </a:spcAft>
              <a:buSzPct val="100000"/>
              <a:buChar char="•"/>
            </a:pPr>
            <a:r>
              <a:rPr lang="en-US" sz="1600" dirty="0">
                <a:solidFill>
                  <a:srgbClr val="10241E"/>
                </a:solidFill>
                <a:latin typeface="DM Sans" pitchFamily="34" charset="0"/>
                <a:ea typeface="DM Sans" pitchFamily="34" charset="-122"/>
                <a:cs typeface="DM Sans" pitchFamily="34" charset="-120"/>
              </a:rPr>
              <a:t>Société de développement : forme juridique et règle d’affectation des bénéfices — société commerciale ou coopérative distincte de l’association ; part réinvestie et part versée aux projets, à voter par l’assemblée</a:t>
            </a:r>
            <a:endParaRPr lang="en-US" sz="1600" dirty="0"/>
          </a:p>
          <a:p>
            <a:pPr marL="228600" indent="-228600">
              <a:lnSpc>
                <a:spcPct val="115000"/>
              </a:lnSpc>
              <a:spcAft>
                <a:spcPts val="600"/>
              </a:spcAft>
              <a:buSzPct val="100000"/>
              <a:buChar char="•"/>
            </a:pPr>
            <a:r>
              <a:rPr lang="en-US" sz="1600" dirty="0">
                <a:solidFill>
                  <a:srgbClr val="10241E"/>
                </a:solidFill>
                <a:latin typeface="DM Sans" pitchFamily="34" charset="0"/>
                <a:ea typeface="DM Sans" pitchFamily="34" charset="-122"/>
                <a:cs typeface="DM Sans" pitchFamily="34" charset="-120"/>
              </a:rPr>
              <a:t>Atlas patrimonial : lieux sacrés et sépultures — la règle actuelle est de ne rien publier ; toute couche patrimoniale de la carte suppose une décision de l’association</a:t>
            </a:r>
            <a:endParaRPr lang="en-US" sz="1600" dirty="0"/>
          </a:p>
          <a:p>
            <a:pPr marL="228600" indent="-228600">
              <a:lnSpc>
                <a:spcPct val="115000"/>
              </a:lnSpc>
              <a:spcAft>
                <a:spcPts val="600"/>
              </a:spcAft>
              <a:buSzPct val="100000"/>
              <a:buChar char="•"/>
            </a:pPr>
            <a:r>
              <a:rPr lang="en-US" sz="1600" dirty="0">
                <a:solidFill>
                  <a:srgbClr val="10241E"/>
                </a:solidFill>
                <a:latin typeface="DM Sans" pitchFamily="34" charset="0"/>
                <a:ea typeface="DM Sans" pitchFamily="34" charset="-122"/>
                <a:cs typeface="DM Sans" pitchFamily="34" charset="-120"/>
              </a:rPr>
              <a:t>« Institut numérique du patrimoine bedjond » — nom proposé par les recommandations 2027-2030 pour le centre de documentation</a:t>
            </a:r>
            <a:endParaRPr lang="en-US" sz="1600" dirty="0"/>
          </a:p>
        </p:txBody>
      </p:sp>
      <p:sp>
        <p:nvSpPr>
          <p:cNvPr id="5" name="Text 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526159"/>
                </a:solidFill>
                <a:latin typeface="DM Sans" pitchFamily="34" charset="0"/>
                <a:ea typeface="DM Sans" pitchFamily="34" charset="-122"/>
                <a:cs typeface="DM Sans" pitchFamily="34" charset="-120"/>
              </a:rPr>
              <a:t>ODEB LONODJI · lonodji.org/odeb</a:t>
            </a:r>
            <a:endParaRPr lang="en-US" sz="900" dirty="0"/>
          </a:p>
        </p:txBody>
      </p:sp>
      <p:sp>
        <p:nvSpPr>
          <p:cNvPr id="6" name="Text 4"/>
          <p:cNvSpPr txBox="1"/>
          <p:nvPr/>
        </p:nvSpPr>
        <p:spPr>
          <a:xfrm>
            <a:off x="9814255" y="6355080"/>
            <a:ext cx="1828800" cy="274320"/>
          </a:xfrm>
          <a:prstGeom prst="rect">
            <a:avLst/>
          </a:prstGeom>
          <a:noFill/>
          <a:ln/>
        </p:spPr>
        <p:txBody>
          <a:bodyPr wrap="square" lIns="0" tIns="0" rIns="0" bIns="0" rtlCol="0" anchor="ctr"/>
          <a:lstStyle/>
          <a:p>
            <a:pPr algn="r" indent="0" marL="0">
              <a:buNone/>
            </a:pPr>
            <a:r>
              <a:rPr lang="en-US" sz="900" dirty="0">
                <a:solidFill>
                  <a:srgbClr val="526159"/>
                </a:solidFill>
                <a:latin typeface="DM Sans" pitchFamily="34" charset="0"/>
                <a:ea typeface="DM Sans" pitchFamily="34" charset="-122"/>
                <a:cs typeface="DM Sans" pitchFamily="34" charset="-120"/>
              </a:rPr>
              <a:t>25 / 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workspace/scratch/45770fcbf08b/lonodji/public/odeb/identite/odeb-lonodji-embleme-superposable-512.png">    </p:cNvPr>
          <p:cNvPicPr>
            <a:picLocks noChangeAspect="1"/>
          </p:cNvPicPr>
          <p:nvPr/>
        </p:nvPicPr>
        <p:blipFill>
          <a:blip r:embed="rId1"/>
          <a:stretch>
            <a:fillRect/>
          </a:stretch>
        </p:blipFill>
        <p:spPr>
          <a:xfrm>
            <a:off x="5090008" y="914400"/>
            <a:ext cx="2011680" cy="2011680"/>
          </a:xfrm>
          <a:prstGeom prst="rect">
            <a:avLst/>
          </a:prstGeom>
        </p:spPr>
      </p:pic>
      <p:sp>
        <p:nvSpPr>
          <p:cNvPr id="3" name="Text 0"/>
          <p:cNvSpPr txBox="1"/>
          <p:nvPr/>
        </p:nvSpPr>
        <p:spPr>
          <a:xfrm>
            <a:off x="1371600" y="3154680"/>
            <a:ext cx="9448495" cy="1097280"/>
          </a:xfrm>
          <a:prstGeom prst="rect">
            <a:avLst/>
          </a:prstGeom>
          <a:noFill/>
          <a:ln/>
        </p:spPr>
        <p:txBody>
          <a:bodyPr wrap="square" lIns="0" tIns="0" rIns="0" bIns="0" rtlCol="0" anchor="ctr">
            <a:normAutofit/>
          </a:bodyPr>
          <a:lstStyle/>
          <a:p>
            <a:pPr algn="ctr" indent="0" marL="0">
              <a:buNone/>
            </a:pPr>
            <a:r>
              <a:rPr lang="en-US" sz="3000" i="1" dirty="0">
                <a:solidFill>
                  <a:srgbClr val="FFFFFF"/>
                </a:solidFill>
                <a:latin typeface="Playfair Display" pitchFamily="34" charset="0"/>
                <a:ea typeface="Playfair Display" pitchFamily="34" charset="-122"/>
                <a:cs typeface="Playfair Display" pitchFamily="34" charset="-120"/>
              </a:rPr>
              <a:t>Unité • Solidarité • Développement</a:t>
            </a:r>
            <a:endParaRPr lang="en-US" sz="3000" dirty="0"/>
          </a:p>
        </p:txBody>
      </p:sp>
      <p:sp>
        <p:nvSpPr>
          <p:cNvPr id="4" name="Text 1"/>
          <p:cNvSpPr txBox="1"/>
          <p:nvPr/>
        </p:nvSpPr>
        <p:spPr>
          <a:xfrm>
            <a:off x="1371600" y="4434840"/>
            <a:ext cx="9448495" cy="1280160"/>
          </a:xfrm>
          <a:prstGeom prst="rect">
            <a:avLst/>
          </a:prstGeom>
          <a:noFill/>
          <a:ln/>
        </p:spPr>
        <p:txBody>
          <a:bodyPr wrap="square" lIns="0" tIns="0" rIns="0" bIns="0" rtlCol="0" anchor="ctr"/>
          <a:lstStyle/>
          <a:p>
            <a:pPr algn="ctr" indent="0" marL="0">
              <a:buNone/>
            </a:pPr>
            <a:r>
              <a:rPr lang="en-US" sz="1400" dirty="0">
                <a:solidFill>
                  <a:srgbClr val="DCE6DC"/>
                </a:solidFill>
                <a:latin typeface="DM Sans" pitchFamily="34" charset="0"/>
                <a:ea typeface="DM Sans" pitchFamily="34" charset="-122"/>
                <a:cs typeface="DM Sans" pitchFamily="34" charset="-120"/>
              </a:rPr>
              <a:t>Livre blanc, programmes, feuille de route : lonodji.org/odeb</a:t>
            </a:r>
            <a:endParaRPr lang="en-US" sz="1400" dirty="0"/>
          </a:p>
          <a:p>
            <a:pPr algn="ctr" indent="0" marL="0">
              <a:buNone/>
            </a:pPr>
            <a:r>
              <a:rPr lang="en-US" sz="1400" dirty="0">
                <a:solidFill>
                  <a:srgbClr val="DCE6DC"/>
                </a:solidFill>
                <a:latin typeface="DM Sans" pitchFamily="34" charset="0"/>
                <a:ea typeface="DM Sans" pitchFamily="34" charset="-122"/>
                <a:cs typeface="DM Sans" pitchFamily="34" charset="-120"/>
              </a:rPr>
              <a:t>Écrire à l’association : lonodji.org/participer · +235 66 29 94 03</a:t>
            </a:r>
            <a:endParaRPr lang="en-US" sz="1400" dirty="0"/>
          </a:p>
        </p:txBody>
      </p:sp>
      <p:sp>
        <p:nvSpPr>
          <p:cNvPr id="5" name="Text 2"/>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spc="200" kern="0" dirty="0">
                <a:solidFill>
                  <a:srgbClr val="AAB9B0"/>
                </a:solidFill>
                <a:latin typeface="DM Sans" pitchFamily="34" charset="0"/>
                <a:ea typeface="DM Sans" pitchFamily="34" charset="-122"/>
                <a:cs typeface="DM Sans" pitchFamily="34" charset="-120"/>
              </a:rPr>
              <a:t>ODEB LONODJI · lonodji.org/odeb</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ADEB LONODJI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ODEB LONODJI — présentation à l’assemblée</dc:title>
  <dc:subject>Vision 2030, six programmes, cinq règles à voter</dc:subject>
  <dc:creator>ADEB LONODJI</dc:creator>
  <cp:lastModifiedBy>ADEB LONODJI</cp:lastModifiedBy>
  <cp:revision>1</cp:revision>
  <dcterms:created xsi:type="dcterms:W3CDTF">2026-10-06T10:30:54Z</dcterms:created>
  <dcterms:modified xsi:type="dcterms:W3CDTF">2026-10-06T10:30:54Z</dcterms:modified>
</cp:coreProperties>
</file>